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F5F2EB"/>
                </a:solidFill>
                <a:latin typeface="Aptos"/>
              </a:rPr>
              <a:t>Top 10 Average GDP (Trillion USD)</a:t>
            </a:r>
          </a:p>
        </c:rich>
      </c:tx>
      <c:layout/>
      <c:overlay val="0"/>
    </c:title>
    <c:autoTitleDeleted val="0"/>
    <c:plotArea>
      <c:barChart>
        <c:barDir val="bar"/>
        <c:grouping val="clustered"/>
        <c:varyColors val="0"/>
        <c:ser>
          <c:idx val="0"/>
          <c:order val="0"/>
          <c:tx>
            <c:strRef>
              <c:f>Sheet1!$B$1</c:f>
              <c:strCache>
                <c:ptCount val="1"/>
                <c:pt idx="0">
                  <c:v>Average</c:v>
                </c:pt>
              </c:strCache>
            </c:strRef>
          </c:tx>
          <c:spPr>
            <a:solidFill>
              <a:srgbClr val="F05A23"/>
            </a:solidFill>
            <a:ln>
              <a:noFill/>
            </a:ln>
          </c:spPr>
          <c:cat>
            <c:strRef>
              <c:f>Sheet1!$A$2:$A$6</c:f>
              <c:strCache>
                <c:ptCount val="5"/>
                <c:pt idx="0">
                  <c:v>USA</c:v>
                </c:pt>
                <c:pt idx="1">
                  <c:v>China</c:v>
                </c:pt>
                <c:pt idx="2">
                  <c:v>Japan</c:v>
                </c:pt>
                <c:pt idx="3">
                  <c:v>Germany</c:v>
                </c:pt>
                <c:pt idx="4">
                  <c:v>UK</c:v>
                </c:pt>
              </c:strCache>
            </c:strRef>
          </c:cat>
          <c:val>
            <c:numRef>
              <c:f>Sheet1!$B$2:$B$6</c:f>
              <c:numCache>
                <c:formatCode>General</c:formatCode>
                <c:ptCount val="5"/>
                <c:pt idx="0">
                  <c:v>19.93</c:v>
                </c:pt>
                <c:pt idx="1">
                  <c:v>12.37</c:v>
                </c:pt>
                <c:pt idx="2">
                  <c:v>5.11</c:v>
                </c:pt>
                <c:pt idx="3">
                  <c:v>3.88</c:v>
                </c:pt>
                <c:pt idx="4">
                  <c:v>2.86</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00">
                <a:solidFill>
                  <a:srgbClr val="F5F2EB"/>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800">
                <a:solidFill>
                  <a:srgbClr val="AFAFA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F5F2EB"/>
                </a:solidFill>
                <a:latin typeface="Aptos"/>
              </a:rPr>
              <a:t>Average GDP — Top 10</a:t>
            </a:r>
          </a:p>
        </c:rich>
      </c:tx>
      <c:layout/>
      <c:overlay val="0"/>
    </c:title>
    <c:autoTitleDeleted val="0"/>
    <c:plotArea>
      <c:barChart>
        <c:barDir val="bar"/>
        <c:grouping val="clustered"/>
        <c:varyColors val="0"/>
        <c:ser>
          <c:idx val="0"/>
          <c:order val="0"/>
          <c:tx>
            <c:strRef>
              <c:f>Sheet1!$B$1</c:f>
              <c:strCache>
                <c:ptCount val="1"/>
                <c:pt idx="0">
                  <c:v>Average</c:v>
                </c:pt>
              </c:strCache>
            </c:strRef>
          </c:tx>
          <c:spPr>
            <a:solidFill>
              <a:srgbClr val="F05A23"/>
            </a:solidFill>
            <a:ln>
              <a:noFill/>
            </a:ln>
          </c:spPr>
          <c:cat>
            <c:strRef>
              <c:f>Sheet1!$A$2:$A$7</c:f>
              <c:strCache>
                <c:ptCount val="6"/>
                <c:pt idx="0">
                  <c:v>USA</c:v>
                </c:pt>
                <c:pt idx="1">
                  <c:v>China</c:v>
                </c:pt>
                <c:pt idx="2">
                  <c:v>Japan</c:v>
                </c:pt>
                <c:pt idx="3">
                  <c:v>Germany</c:v>
                </c:pt>
                <c:pt idx="4">
                  <c:v>UK</c:v>
                </c:pt>
                <c:pt idx="5">
                  <c:v>France</c:v>
                </c:pt>
              </c:strCache>
            </c:strRef>
          </c:cat>
          <c:val>
            <c:numRef>
              <c:f>Sheet1!$B$2:$B$7</c:f>
              <c:numCache>
                <c:formatCode>General</c:formatCode>
                <c:ptCount val="6"/>
                <c:pt idx="0">
                  <c:v>19.93</c:v>
                </c:pt>
                <c:pt idx="1">
                  <c:v>12.37</c:v>
                </c:pt>
                <c:pt idx="2">
                  <c:v>5.11</c:v>
                </c:pt>
                <c:pt idx="3">
                  <c:v>3.88</c:v>
                </c:pt>
                <c:pt idx="4">
                  <c:v>2.86</c:v>
                </c:pt>
                <c:pt idx="5">
                  <c:v>2.74</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00">
                <a:solidFill>
                  <a:srgbClr val="F5F2EB"/>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800">
                <a:solidFill>
                  <a:srgbClr val="AFAFA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F5F2EB"/>
                </a:solidFill>
                <a:latin typeface="Aptos"/>
              </a:rPr>
              <a:t>Average GDP Growth — Top 10</a:t>
            </a:r>
          </a:p>
        </c:rich>
      </c:tx>
      <c:layout/>
      <c:overlay val="0"/>
    </c:title>
    <c:autoTitleDeleted val="0"/>
    <c:plotArea>
      <c:barChart>
        <c:barDir val="bar"/>
        <c:grouping val="clustered"/>
        <c:varyColors val="0"/>
        <c:ser>
          <c:idx val="0"/>
          <c:order val="0"/>
          <c:tx>
            <c:strRef>
              <c:f>Sheet1!$B$1</c:f>
              <c:strCache>
                <c:ptCount val="1"/>
                <c:pt idx="0">
                  <c:v>Average</c:v>
                </c:pt>
              </c:strCache>
            </c:strRef>
          </c:tx>
          <c:spPr>
            <a:solidFill>
              <a:srgbClr val="F05A23"/>
            </a:solidFill>
            <a:ln>
              <a:noFill/>
            </a:ln>
          </c:spPr>
          <c:cat>
            <c:strRef>
              <c:f>Sheet1!$A$2:$A$7</c:f>
              <c:strCache>
                <c:ptCount val="6"/>
                <c:pt idx="0">
                  <c:v>Guyana</c:v>
                </c:pt>
                <c:pt idx="1">
                  <c:v>Ethiopia</c:v>
                </c:pt>
                <c:pt idx="2">
                  <c:v>Turkmenistan</c:v>
                </c:pt>
                <c:pt idx="3">
                  <c:v>Tajikistan</c:v>
                </c:pt>
                <c:pt idx="4">
                  <c:v>China</c:v>
                </c:pt>
                <c:pt idx="5">
                  <c:v>Rwanda</c:v>
                </c:pt>
              </c:strCache>
            </c:strRef>
          </c:cat>
          <c:val>
            <c:numRef>
              <c:f>Sheet1!$B$2:$B$7</c:f>
              <c:numCache>
                <c:formatCode>General</c:formatCode>
                <c:ptCount val="6"/>
                <c:pt idx="0">
                  <c:v>14.2</c:v>
                </c:pt>
                <c:pt idx="1">
                  <c:v>8.7</c:v>
                </c:pt>
                <c:pt idx="2">
                  <c:v>8.0</c:v>
                </c:pt>
                <c:pt idx="3">
                  <c:v>7.2</c:v>
                </c:pt>
                <c:pt idx="4">
                  <c:v>6.8</c:v>
                </c:pt>
                <c:pt idx="5">
                  <c:v>6.8</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00">
                <a:solidFill>
                  <a:srgbClr val="F5F2EB"/>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800">
                <a:solidFill>
                  <a:srgbClr val="AFAFA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F5F2EB"/>
                </a:solidFill>
                <a:latin typeface="Aptos"/>
              </a:rPr>
              <a:t>Average Inflation — Top 10</a:t>
            </a:r>
          </a:p>
        </c:rich>
      </c:tx>
      <c:layout/>
      <c:overlay val="0"/>
    </c:title>
    <c:autoTitleDeleted val="0"/>
    <c:plotArea>
      <c:barChart>
        <c:barDir val="bar"/>
        <c:grouping val="clustered"/>
        <c:varyColors val="0"/>
        <c:ser>
          <c:idx val="0"/>
          <c:order val="0"/>
          <c:tx>
            <c:strRef>
              <c:f>Sheet1!$B$1</c:f>
              <c:strCache>
                <c:ptCount val="1"/>
                <c:pt idx="0">
                  <c:v>Average</c:v>
                </c:pt>
              </c:strCache>
            </c:strRef>
          </c:tx>
          <c:spPr>
            <a:solidFill>
              <a:srgbClr val="F05A23"/>
            </a:solidFill>
            <a:ln>
              <a:noFill/>
            </a:ln>
          </c:spPr>
          <c:cat>
            <c:strRef>
              <c:f>Sheet1!$A$2:$A$7</c:f>
              <c:strCache>
                <c:ptCount val="6"/>
                <c:pt idx="0">
                  <c:v>Zimbabwe</c:v>
                </c:pt>
                <c:pt idx="1">
                  <c:v>Venezuela</c:v>
                </c:pt>
                <c:pt idx="2">
                  <c:v>Sudan</c:v>
                </c:pt>
                <c:pt idx="3">
                  <c:v>South Sudan</c:v>
                </c:pt>
                <c:pt idx="4">
                  <c:v>Lebanon</c:v>
                </c:pt>
                <c:pt idx="5">
                  <c:v>Suriname</c:v>
                </c:pt>
              </c:strCache>
            </c:strRef>
          </c:cat>
          <c:val>
            <c:numRef>
              <c:f>Sheet1!$B$2:$B$7</c:f>
              <c:numCache>
                <c:formatCode>General</c:formatCode>
                <c:ptCount val="6"/>
                <c:pt idx="0">
                  <c:v>79.6</c:v>
                </c:pt>
                <c:pt idx="1">
                  <c:v>79.3</c:v>
                </c:pt>
                <c:pt idx="2">
                  <c:v>75.6</c:v>
                </c:pt>
                <c:pt idx="3">
                  <c:v>65.9</c:v>
                </c:pt>
                <c:pt idx="4">
                  <c:v>47.4</c:v>
                </c:pt>
                <c:pt idx="5">
                  <c:v>26.4</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00">
                <a:solidFill>
                  <a:srgbClr val="F5F2EB"/>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800">
                <a:solidFill>
                  <a:srgbClr val="AFAFA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F5F2EB"/>
                </a:solidFill>
                <a:latin typeface="Aptos"/>
              </a:rPr>
              <a:t>Average Unemployment — Top 10</a:t>
            </a:r>
          </a:p>
        </c:rich>
      </c:tx>
      <c:layout/>
      <c:overlay val="0"/>
    </c:title>
    <c:autoTitleDeleted val="0"/>
    <c:plotArea>
      <c:barChart>
        <c:barDir val="bar"/>
        <c:grouping val="clustered"/>
        <c:varyColors val="0"/>
        <c:ser>
          <c:idx val="0"/>
          <c:order val="0"/>
          <c:tx>
            <c:strRef>
              <c:f>Sheet1!$B$1</c:f>
              <c:strCache>
                <c:ptCount val="1"/>
                <c:pt idx="0">
                  <c:v>Average</c:v>
                </c:pt>
              </c:strCache>
            </c:strRef>
          </c:tx>
          <c:spPr>
            <a:solidFill>
              <a:srgbClr val="F05A23"/>
            </a:solidFill>
            <a:ln>
              <a:noFill/>
            </a:ln>
          </c:spPr>
          <c:cat>
            <c:strRef>
              <c:f>Sheet1!$A$2:$A$7</c:f>
              <c:strCache>
                <c:ptCount val="6"/>
                <c:pt idx="0">
                  <c:v>Eswatini</c:v>
                </c:pt>
                <c:pt idx="1">
                  <c:v>South Africa</c:v>
                </c:pt>
                <c:pt idx="2">
                  <c:v>Djibouti</c:v>
                </c:pt>
                <c:pt idx="3">
                  <c:v>N. Macedonia</c:v>
                </c:pt>
                <c:pt idx="4">
                  <c:v>W. Bank &amp; Gaza</c:v>
                </c:pt>
                <c:pt idx="5">
                  <c:v>Bosnia</c:v>
                </c:pt>
              </c:strCache>
            </c:strRef>
          </c:cat>
          <c:val>
            <c:numRef>
              <c:f>Sheet1!$B$2:$B$7</c:f>
              <c:numCache>
                <c:formatCode>General</c:formatCode>
                <c:ptCount val="6"/>
                <c:pt idx="0">
                  <c:v>27.8</c:v>
                </c:pt>
                <c:pt idx="1">
                  <c:v>27.6</c:v>
                </c:pt>
                <c:pt idx="2">
                  <c:v>26.4</c:v>
                </c:pt>
                <c:pt idx="3">
                  <c:v>23.2</c:v>
                </c:pt>
                <c:pt idx="4">
                  <c:v>23.0</c:v>
                </c:pt>
                <c:pt idx="5">
                  <c:v>21.4</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00">
                <a:solidFill>
                  <a:srgbClr val="F5F2EB"/>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800">
                <a:solidFill>
                  <a:srgbClr val="AFAFA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960120"/>
            <a:ext cx="6217920" cy="685800"/>
          </a:xfrm>
          <a:prstGeom prst="rect">
            <a:avLst/>
          </a:prstGeom>
          <a:noFill/>
        </p:spPr>
        <p:txBody>
          <a:bodyPr wrap="square" anchor="t">
            <a:spAutoFit/>
          </a:bodyPr>
          <a:lstStyle/>
          <a:p>
            <a:pPr algn="l"/>
            <a:r>
              <a:rPr sz="3200" b="1">
                <a:solidFill>
                  <a:srgbClr val="F5F2EB"/>
                </a:solidFill>
                <a:latin typeface="Aptos"/>
              </a:rPr>
              <a:t>GLOBAL</a:t>
            </a:r>
          </a:p>
        </p:txBody>
      </p:sp>
      <p:sp>
        <p:nvSpPr>
          <p:cNvPr id="3" name="TextBox 2"/>
          <p:cNvSpPr txBox="1"/>
          <p:nvPr/>
        </p:nvSpPr>
        <p:spPr>
          <a:xfrm>
            <a:off x="594360" y="1572768"/>
            <a:ext cx="10698480" cy="777240"/>
          </a:xfrm>
          <a:prstGeom prst="rect">
            <a:avLst/>
          </a:prstGeom>
          <a:noFill/>
        </p:spPr>
        <p:txBody>
          <a:bodyPr wrap="square" anchor="t">
            <a:spAutoFit/>
          </a:bodyPr>
          <a:lstStyle/>
          <a:p>
            <a:pPr algn="l"/>
            <a:r>
              <a:rPr sz="3200" b="1">
                <a:solidFill>
                  <a:srgbClr val="F5F2EB"/>
                </a:solidFill>
                <a:latin typeface="Aptos"/>
              </a:rPr>
              <a:t>ECONOMIC ANALYSIS</a:t>
            </a:r>
          </a:p>
        </p:txBody>
      </p:sp>
      <p:sp>
        <p:nvSpPr>
          <p:cNvPr id="4" name="Rectangle 3"/>
          <p:cNvSpPr/>
          <p:nvPr/>
        </p:nvSpPr>
        <p:spPr>
          <a:xfrm>
            <a:off x="612648" y="2487168"/>
            <a:ext cx="1920240" cy="54864"/>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2761488"/>
            <a:ext cx="7772400" cy="868680"/>
          </a:xfrm>
          <a:prstGeom prst="rect">
            <a:avLst/>
          </a:prstGeom>
          <a:noFill/>
        </p:spPr>
        <p:txBody>
          <a:bodyPr wrap="square" anchor="t">
            <a:spAutoFit/>
          </a:bodyPr>
          <a:lstStyle/>
          <a:p>
            <a:pPr algn="l"/>
            <a:r>
              <a:rPr sz="2000" b="0">
                <a:solidFill>
                  <a:srgbClr val="DCDCDC"/>
                </a:solidFill>
                <a:latin typeface="Aptos"/>
              </a:rPr>
              <a:t>Economic Indicators Across Countries
2010–2023</a:t>
            </a:r>
          </a:p>
        </p:txBody>
      </p:sp>
      <p:sp>
        <p:nvSpPr>
          <p:cNvPr id="6" name="TextBox 5"/>
          <p:cNvSpPr txBox="1"/>
          <p:nvPr/>
        </p:nvSpPr>
        <p:spPr>
          <a:xfrm>
            <a:off x="612648" y="5349240"/>
            <a:ext cx="6858000" cy="365760"/>
          </a:xfrm>
          <a:prstGeom prst="rect">
            <a:avLst/>
          </a:prstGeom>
          <a:noFill/>
        </p:spPr>
        <p:txBody>
          <a:bodyPr wrap="square" anchor="t">
            <a:spAutoFit/>
          </a:bodyPr>
          <a:lstStyle/>
          <a:p>
            <a:pPr algn="l"/>
            <a:r>
              <a:rPr sz="1200" b="1">
                <a:solidFill>
                  <a:srgbClr val="AFAFAF"/>
                </a:solidFill>
                <a:latin typeface="Aptos"/>
              </a:rPr>
              <a:t>DATA ANALYSIS DIPLOMA PROJECT</a:t>
            </a:r>
          </a:p>
        </p:txBody>
      </p:sp>
      <p:sp>
        <p:nvSpPr>
          <p:cNvPr id="7" name="TextBox 6"/>
          <p:cNvSpPr txBox="1"/>
          <p:nvPr/>
        </p:nvSpPr>
        <p:spPr>
          <a:xfrm>
            <a:off x="612648" y="5742432"/>
            <a:ext cx="5943600" cy="320040"/>
          </a:xfrm>
          <a:prstGeom prst="rect">
            <a:avLst/>
          </a:prstGeom>
          <a:noFill/>
        </p:spPr>
        <p:txBody>
          <a:bodyPr wrap="square" anchor="t">
            <a:spAutoFit/>
          </a:bodyPr>
          <a:lstStyle/>
          <a:p>
            <a:pPr algn="l"/>
            <a:r>
              <a:rPr sz="1100" b="0">
                <a:solidFill>
                  <a:srgbClr val="AFAFAF"/>
                </a:solidFill>
                <a:latin typeface="Aptos"/>
              </a:rPr>
              <a:t>Python • Pandas • Power BI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DATASET OVERVIEW</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Source, size and analysis scope</a:t>
            </a:r>
          </a:p>
        </p:txBody>
      </p:sp>
      <p:sp>
        <p:nvSpPr>
          <p:cNvPr id="5" name="Rounded Rectangle 4"/>
          <p:cNvSpPr/>
          <p:nvPr/>
        </p:nvSpPr>
        <p:spPr>
          <a:xfrm>
            <a:off x="594360" y="1600200"/>
            <a:ext cx="2423160" cy="12344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64792"/>
            <a:ext cx="2093976" cy="438912"/>
          </a:xfrm>
          <a:prstGeom prst="rect">
            <a:avLst/>
          </a:prstGeom>
          <a:noFill/>
        </p:spPr>
        <p:txBody>
          <a:bodyPr wrap="square" anchor="t">
            <a:spAutoFit/>
          </a:bodyPr>
          <a:lstStyle/>
          <a:p>
            <a:pPr algn="l"/>
            <a:r>
              <a:rPr sz="2500" b="1">
                <a:solidFill>
                  <a:srgbClr val="F5F2EB"/>
                </a:solidFill>
                <a:latin typeface="Aptos"/>
              </a:rPr>
              <a:t>3,472</a:t>
            </a:r>
          </a:p>
        </p:txBody>
      </p:sp>
      <p:sp>
        <p:nvSpPr>
          <p:cNvPr id="7" name="TextBox 6"/>
          <p:cNvSpPr txBox="1"/>
          <p:nvPr/>
        </p:nvSpPr>
        <p:spPr>
          <a:xfrm>
            <a:off x="758952" y="2286000"/>
            <a:ext cx="2093976" cy="274320"/>
          </a:xfrm>
          <a:prstGeom prst="rect">
            <a:avLst/>
          </a:prstGeom>
          <a:noFill/>
        </p:spPr>
        <p:txBody>
          <a:bodyPr wrap="square" anchor="t">
            <a:spAutoFit/>
          </a:bodyPr>
          <a:lstStyle/>
          <a:p>
            <a:pPr algn="l"/>
            <a:r>
              <a:rPr sz="1000" b="0">
                <a:solidFill>
                  <a:srgbClr val="AFAFAF"/>
                </a:solidFill>
                <a:latin typeface="Aptos"/>
              </a:rPr>
              <a:t>Original observations</a:t>
            </a:r>
          </a:p>
        </p:txBody>
      </p:sp>
      <p:sp>
        <p:nvSpPr>
          <p:cNvPr id="8" name="Rounded Rectangle 7"/>
          <p:cNvSpPr/>
          <p:nvPr/>
        </p:nvSpPr>
        <p:spPr>
          <a:xfrm>
            <a:off x="3246120" y="1600200"/>
            <a:ext cx="2423160" cy="12344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1764792"/>
            <a:ext cx="2093976" cy="438912"/>
          </a:xfrm>
          <a:prstGeom prst="rect">
            <a:avLst/>
          </a:prstGeom>
          <a:noFill/>
        </p:spPr>
        <p:txBody>
          <a:bodyPr wrap="square" anchor="t">
            <a:spAutoFit/>
          </a:bodyPr>
          <a:lstStyle/>
          <a:p>
            <a:pPr algn="l"/>
            <a:r>
              <a:rPr sz="2500" b="1">
                <a:solidFill>
                  <a:srgbClr val="F5F2EB"/>
                </a:solidFill>
                <a:latin typeface="Aptos"/>
              </a:rPr>
              <a:t>217</a:t>
            </a:r>
          </a:p>
        </p:txBody>
      </p:sp>
      <p:sp>
        <p:nvSpPr>
          <p:cNvPr id="10" name="TextBox 9"/>
          <p:cNvSpPr txBox="1"/>
          <p:nvPr/>
        </p:nvSpPr>
        <p:spPr>
          <a:xfrm>
            <a:off x="3410712" y="2286000"/>
            <a:ext cx="2093976" cy="274320"/>
          </a:xfrm>
          <a:prstGeom prst="rect">
            <a:avLst/>
          </a:prstGeom>
          <a:noFill/>
        </p:spPr>
        <p:txBody>
          <a:bodyPr wrap="square" anchor="t">
            <a:spAutoFit/>
          </a:bodyPr>
          <a:lstStyle/>
          <a:p>
            <a:pPr algn="l"/>
            <a:r>
              <a:rPr sz="1000" b="0">
                <a:solidFill>
                  <a:srgbClr val="AFAFAF"/>
                </a:solidFill>
                <a:latin typeface="Aptos"/>
              </a:rPr>
              <a:t>Countries</a:t>
            </a:r>
          </a:p>
        </p:txBody>
      </p:sp>
      <p:sp>
        <p:nvSpPr>
          <p:cNvPr id="11" name="Rounded Rectangle 10"/>
          <p:cNvSpPr/>
          <p:nvPr/>
        </p:nvSpPr>
        <p:spPr>
          <a:xfrm>
            <a:off x="5897880" y="1600200"/>
            <a:ext cx="2423160" cy="12344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62472" y="1764792"/>
            <a:ext cx="2093976" cy="438912"/>
          </a:xfrm>
          <a:prstGeom prst="rect">
            <a:avLst/>
          </a:prstGeom>
          <a:noFill/>
        </p:spPr>
        <p:txBody>
          <a:bodyPr wrap="square" anchor="t">
            <a:spAutoFit/>
          </a:bodyPr>
          <a:lstStyle/>
          <a:p>
            <a:pPr algn="l"/>
            <a:r>
              <a:rPr sz="2500" b="1">
                <a:solidFill>
                  <a:srgbClr val="F5F2EB"/>
                </a:solidFill>
                <a:latin typeface="Aptos"/>
              </a:rPr>
              <a:t>2010–2025</a:t>
            </a:r>
          </a:p>
        </p:txBody>
      </p:sp>
      <p:sp>
        <p:nvSpPr>
          <p:cNvPr id="13" name="TextBox 12"/>
          <p:cNvSpPr txBox="1"/>
          <p:nvPr/>
        </p:nvSpPr>
        <p:spPr>
          <a:xfrm>
            <a:off x="6062472" y="2286000"/>
            <a:ext cx="2093976" cy="274320"/>
          </a:xfrm>
          <a:prstGeom prst="rect">
            <a:avLst/>
          </a:prstGeom>
          <a:noFill/>
        </p:spPr>
        <p:txBody>
          <a:bodyPr wrap="square" anchor="t">
            <a:spAutoFit/>
          </a:bodyPr>
          <a:lstStyle/>
          <a:p>
            <a:pPr algn="l"/>
            <a:r>
              <a:rPr sz="1000" b="0">
                <a:solidFill>
                  <a:srgbClr val="AFAFAF"/>
                </a:solidFill>
                <a:latin typeface="Aptos"/>
              </a:rPr>
              <a:t>Original years</a:t>
            </a:r>
          </a:p>
        </p:txBody>
      </p:sp>
      <p:sp>
        <p:nvSpPr>
          <p:cNvPr id="14" name="Rounded Rectangle 13"/>
          <p:cNvSpPr/>
          <p:nvPr/>
        </p:nvSpPr>
        <p:spPr>
          <a:xfrm>
            <a:off x="8549640" y="1600200"/>
            <a:ext cx="2423160" cy="12344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14232" y="1764792"/>
            <a:ext cx="2093976" cy="438912"/>
          </a:xfrm>
          <a:prstGeom prst="rect">
            <a:avLst/>
          </a:prstGeom>
          <a:noFill/>
        </p:spPr>
        <p:txBody>
          <a:bodyPr wrap="square" anchor="t">
            <a:spAutoFit/>
          </a:bodyPr>
          <a:lstStyle/>
          <a:p>
            <a:pPr algn="l"/>
            <a:r>
              <a:rPr sz="2500" b="1">
                <a:solidFill>
                  <a:srgbClr val="F5F2EB"/>
                </a:solidFill>
                <a:latin typeface="Aptos"/>
              </a:rPr>
              <a:t>16</a:t>
            </a:r>
          </a:p>
        </p:txBody>
      </p:sp>
      <p:sp>
        <p:nvSpPr>
          <p:cNvPr id="16" name="TextBox 15"/>
          <p:cNvSpPr txBox="1"/>
          <p:nvPr/>
        </p:nvSpPr>
        <p:spPr>
          <a:xfrm>
            <a:off x="8714232" y="2286000"/>
            <a:ext cx="2093976" cy="274320"/>
          </a:xfrm>
          <a:prstGeom prst="rect">
            <a:avLst/>
          </a:prstGeom>
          <a:noFill/>
        </p:spPr>
        <p:txBody>
          <a:bodyPr wrap="square" anchor="t">
            <a:spAutoFit/>
          </a:bodyPr>
          <a:lstStyle/>
          <a:p>
            <a:pPr algn="l"/>
            <a:r>
              <a:rPr sz="1000" b="0">
                <a:solidFill>
                  <a:srgbClr val="AFAFAF"/>
                </a:solidFill>
                <a:latin typeface="Aptos"/>
              </a:rPr>
              <a:t>Original columns</a:t>
            </a:r>
          </a:p>
        </p:txBody>
      </p:sp>
      <p:sp>
        <p:nvSpPr>
          <p:cNvPr id="17" name="TextBox 16"/>
          <p:cNvSpPr txBox="1"/>
          <p:nvPr/>
        </p:nvSpPr>
        <p:spPr>
          <a:xfrm>
            <a:off x="731520" y="3246120"/>
            <a:ext cx="10698480" cy="2468880"/>
          </a:xfrm>
          <a:prstGeom prst="rect">
            <a:avLst/>
          </a:prstGeom>
          <a:noFill/>
        </p:spPr>
        <p:txBody>
          <a:bodyPr wrap="square">
            <a:spAutoFit/>
          </a:bodyPr>
          <a:lstStyle/>
          <a:p>
            <a:pPr>
              <a:spcAft>
                <a:spcPts val="800"/>
              </a:spcAft>
              <a:defRPr sz="1700">
                <a:solidFill>
                  <a:srgbClr val="F5F2EB"/>
                </a:solidFill>
                <a:latin typeface="Aptos"/>
              </a:defRPr>
            </a:pPr>
            <a:r>
              <a:t>• The dataset contains economic indicators for countries over multiple years.</a:t>
            </a:r>
          </a:p>
          <a:p>
            <a:pPr>
              <a:spcAft>
                <a:spcPts val="800"/>
              </a:spcAft>
              <a:defRPr sz="1700">
                <a:solidFill>
                  <a:srgbClr val="F5F2EB"/>
                </a:solidFill>
                <a:latin typeface="Aptos"/>
              </a:defRPr>
            </a:pPr>
            <a:r>
              <a:t>• The analysis focuses on GDP, GDP per capita, GDP growth, inflation, unemployment, current account balance and GNI.</a:t>
            </a:r>
          </a:p>
          <a:p>
            <a:pPr>
              <a:spcAft>
                <a:spcPts val="800"/>
              </a:spcAft>
              <a:defRPr sz="1700">
                <a:solidFill>
                  <a:srgbClr val="F5F2EB"/>
                </a:solidFill>
                <a:latin typeface="Aptos"/>
              </a:defRPr>
            </a:pPr>
            <a:r>
              <a:t>• The dataset was obtained from Kaggle and is based on World Bank economic indicators.</a:t>
            </a:r>
          </a:p>
          <a:p>
            <a:pPr>
              <a:spcAft>
                <a:spcPts val="800"/>
              </a:spcAft>
              <a:defRPr sz="1700">
                <a:solidFill>
                  <a:srgbClr val="F5F2EB"/>
                </a:solidFill>
                <a:latin typeface="Aptos"/>
              </a:defRPr>
            </a:pPr>
            <a:r>
              <a:t>• After cleaning, the dashboard uses 3,038 observations covering 217 countries from 2010–2023.</a:t>
            </a:r>
          </a:p>
        </p:txBody>
      </p:sp>
      <p:sp>
        <p:nvSpPr>
          <p:cNvPr id="18" name="TextBox 17"/>
          <p:cNvSpPr txBox="1"/>
          <p:nvPr/>
        </p:nvSpPr>
        <p:spPr>
          <a:xfrm>
            <a:off x="731520" y="5806440"/>
            <a:ext cx="2286000" cy="274320"/>
          </a:xfrm>
          <a:prstGeom prst="rect">
            <a:avLst/>
          </a:prstGeom>
          <a:noFill/>
        </p:spPr>
        <p:txBody>
          <a:bodyPr wrap="square" anchor="t">
            <a:spAutoFit/>
          </a:bodyPr>
          <a:lstStyle/>
          <a:p>
            <a:pPr algn="l"/>
            <a:r>
              <a:rPr sz="1000" b="1">
                <a:solidFill>
                  <a:srgbClr val="F05A23"/>
                </a:solidFill>
                <a:latin typeface="Aptos"/>
              </a:rPr>
              <a:t>FINAL ANALYSIS SCOPE</a:t>
            </a:r>
          </a:p>
        </p:txBody>
      </p:sp>
      <p:sp>
        <p:nvSpPr>
          <p:cNvPr id="19" name="TextBox 18"/>
          <p:cNvSpPr txBox="1"/>
          <p:nvPr/>
        </p:nvSpPr>
        <p:spPr>
          <a:xfrm>
            <a:off x="2331720" y="5769864"/>
            <a:ext cx="8046720" cy="320040"/>
          </a:xfrm>
          <a:prstGeom prst="rect">
            <a:avLst/>
          </a:prstGeom>
          <a:noFill/>
        </p:spPr>
        <p:txBody>
          <a:bodyPr wrap="square" anchor="t">
            <a:spAutoFit/>
          </a:bodyPr>
          <a:lstStyle/>
          <a:p>
            <a:pPr algn="l"/>
            <a:r>
              <a:rPr sz="1400" b="1">
                <a:solidFill>
                  <a:srgbClr val="F5F2EB"/>
                </a:solidFill>
                <a:latin typeface="Aptos"/>
              </a:rPr>
              <a:t>217 countries  •  14 years  •  11 retained variables</a:t>
            </a:r>
          </a:p>
        </p:txBody>
      </p:sp>
      <p:sp>
        <p:nvSpPr>
          <p:cNvPr id="20" name="TextBox 19"/>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DATASET VARIABLES</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Meaning of the retained columns</a:t>
            </a:r>
          </a:p>
        </p:txBody>
      </p:sp>
      <p:sp>
        <p:nvSpPr>
          <p:cNvPr id="5" name="Rounded Rectangle 4"/>
          <p:cNvSpPr/>
          <p:nvPr/>
        </p:nvSpPr>
        <p:spPr>
          <a:xfrm>
            <a:off x="594360" y="1417320"/>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508760"/>
            <a:ext cx="2514600" cy="219456"/>
          </a:xfrm>
          <a:prstGeom prst="rect">
            <a:avLst/>
          </a:prstGeom>
          <a:noFill/>
        </p:spPr>
        <p:txBody>
          <a:bodyPr wrap="square" anchor="t">
            <a:spAutoFit/>
          </a:bodyPr>
          <a:lstStyle/>
          <a:p>
            <a:pPr algn="l"/>
            <a:r>
              <a:rPr sz="1050" b="1">
                <a:solidFill>
                  <a:srgbClr val="F05A23"/>
                </a:solidFill>
                <a:latin typeface="Aptos"/>
              </a:rPr>
              <a:t>country_name</a:t>
            </a:r>
          </a:p>
        </p:txBody>
      </p:sp>
      <p:sp>
        <p:nvSpPr>
          <p:cNvPr id="7" name="TextBox 6"/>
          <p:cNvSpPr txBox="1"/>
          <p:nvPr/>
        </p:nvSpPr>
        <p:spPr>
          <a:xfrm>
            <a:off x="3200400" y="1490472"/>
            <a:ext cx="2487168" cy="384048"/>
          </a:xfrm>
          <a:prstGeom prst="rect">
            <a:avLst/>
          </a:prstGeom>
          <a:noFill/>
        </p:spPr>
        <p:txBody>
          <a:bodyPr wrap="square" anchor="t">
            <a:spAutoFit/>
          </a:bodyPr>
          <a:lstStyle/>
          <a:p>
            <a:pPr algn="l"/>
            <a:r>
              <a:rPr sz="1050" b="0">
                <a:solidFill>
                  <a:srgbClr val="F5F2EB"/>
                </a:solidFill>
                <a:latin typeface="Aptos"/>
              </a:rPr>
              <a:t>Country name</a:t>
            </a:r>
          </a:p>
        </p:txBody>
      </p:sp>
      <p:sp>
        <p:nvSpPr>
          <p:cNvPr id="8" name="Rounded Rectangle 7"/>
          <p:cNvSpPr/>
          <p:nvPr/>
        </p:nvSpPr>
        <p:spPr>
          <a:xfrm>
            <a:off x="594360" y="2167128"/>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258568"/>
            <a:ext cx="2514600" cy="219456"/>
          </a:xfrm>
          <a:prstGeom prst="rect">
            <a:avLst/>
          </a:prstGeom>
          <a:noFill/>
        </p:spPr>
        <p:txBody>
          <a:bodyPr wrap="square" anchor="t">
            <a:spAutoFit/>
          </a:bodyPr>
          <a:lstStyle/>
          <a:p>
            <a:pPr algn="l"/>
            <a:r>
              <a:rPr sz="1050" b="1">
                <a:solidFill>
                  <a:srgbClr val="F05A23"/>
                </a:solidFill>
                <a:latin typeface="Aptos"/>
              </a:rPr>
              <a:t>country_id</a:t>
            </a:r>
          </a:p>
        </p:txBody>
      </p:sp>
      <p:sp>
        <p:nvSpPr>
          <p:cNvPr id="10" name="TextBox 9"/>
          <p:cNvSpPr txBox="1"/>
          <p:nvPr/>
        </p:nvSpPr>
        <p:spPr>
          <a:xfrm>
            <a:off x="3200400" y="2240280"/>
            <a:ext cx="2487168" cy="384048"/>
          </a:xfrm>
          <a:prstGeom prst="rect">
            <a:avLst/>
          </a:prstGeom>
          <a:noFill/>
        </p:spPr>
        <p:txBody>
          <a:bodyPr wrap="square" anchor="t">
            <a:spAutoFit/>
          </a:bodyPr>
          <a:lstStyle/>
          <a:p>
            <a:pPr algn="l"/>
            <a:r>
              <a:rPr sz="1050" b="0">
                <a:solidFill>
                  <a:srgbClr val="F5F2EB"/>
                </a:solidFill>
                <a:latin typeface="Aptos"/>
              </a:rPr>
              <a:t>Country identifier</a:t>
            </a:r>
          </a:p>
        </p:txBody>
      </p:sp>
      <p:sp>
        <p:nvSpPr>
          <p:cNvPr id="11" name="Rounded Rectangle 10"/>
          <p:cNvSpPr/>
          <p:nvPr/>
        </p:nvSpPr>
        <p:spPr>
          <a:xfrm>
            <a:off x="594360" y="2916936"/>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008376"/>
            <a:ext cx="2514600" cy="219456"/>
          </a:xfrm>
          <a:prstGeom prst="rect">
            <a:avLst/>
          </a:prstGeom>
          <a:noFill/>
        </p:spPr>
        <p:txBody>
          <a:bodyPr wrap="square" anchor="t">
            <a:spAutoFit/>
          </a:bodyPr>
          <a:lstStyle/>
          <a:p>
            <a:pPr algn="l"/>
            <a:r>
              <a:rPr sz="1050" b="1">
                <a:solidFill>
                  <a:srgbClr val="F05A23"/>
                </a:solidFill>
                <a:latin typeface="Aptos"/>
              </a:rPr>
              <a:t>year</a:t>
            </a:r>
          </a:p>
        </p:txBody>
      </p:sp>
      <p:sp>
        <p:nvSpPr>
          <p:cNvPr id="13" name="TextBox 12"/>
          <p:cNvSpPr txBox="1"/>
          <p:nvPr/>
        </p:nvSpPr>
        <p:spPr>
          <a:xfrm>
            <a:off x="3200400" y="2990088"/>
            <a:ext cx="2487168" cy="384048"/>
          </a:xfrm>
          <a:prstGeom prst="rect">
            <a:avLst/>
          </a:prstGeom>
          <a:noFill/>
        </p:spPr>
        <p:txBody>
          <a:bodyPr wrap="square" anchor="t">
            <a:spAutoFit/>
          </a:bodyPr>
          <a:lstStyle/>
          <a:p>
            <a:pPr algn="l"/>
            <a:r>
              <a:rPr sz="1050" b="0">
                <a:solidFill>
                  <a:srgbClr val="F5F2EB"/>
                </a:solidFill>
                <a:latin typeface="Aptos"/>
              </a:rPr>
              <a:t>Year of observation</a:t>
            </a:r>
          </a:p>
        </p:txBody>
      </p:sp>
      <p:sp>
        <p:nvSpPr>
          <p:cNvPr id="14" name="Rounded Rectangle 13"/>
          <p:cNvSpPr/>
          <p:nvPr/>
        </p:nvSpPr>
        <p:spPr>
          <a:xfrm>
            <a:off x="594360" y="3666744"/>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3758183"/>
            <a:ext cx="2514600" cy="219456"/>
          </a:xfrm>
          <a:prstGeom prst="rect">
            <a:avLst/>
          </a:prstGeom>
          <a:noFill/>
        </p:spPr>
        <p:txBody>
          <a:bodyPr wrap="square" anchor="t">
            <a:spAutoFit/>
          </a:bodyPr>
          <a:lstStyle/>
          <a:p>
            <a:pPr algn="l"/>
            <a:r>
              <a:rPr sz="1050" b="1">
                <a:solidFill>
                  <a:srgbClr val="F05A23"/>
                </a:solidFill>
                <a:latin typeface="Aptos"/>
              </a:rPr>
              <a:t>Inflation (CPI %)</a:t>
            </a:r>
          </a:p>
        </p:txBody>
      </p:sp>
      <p:sp>
        <p:nvSpPr>
          <p:cNvPr id="16" name="TextBox 15"/>
          <p:cNvSpPr txBox="1"/>
          <p:nvPr/>
        </p:nvSpPr>
        <p:spPr>
          <a:xfrm>
            <a:off x="3200400" y="3739896"/>
            <a:ext cx="2487168" cy="384048"/>
          </a:xfrm>
          <a:prstGeom prst="rect">
            <a:avLst/>
          </a:prstGeom>
          <a:noFill/>
        </p:spPr>
        <p:txBody>
          <a:bodyPr wrap="square" anchor="t">
            <a:spAutoFit/>
          </a:bodyPr>
          <a:lstStyle/>
          <a:p>
            <a:pPr algn="l"/>
            <a:r>
              <a:rPr sz="1050" b="0">
                <a:solidFill>
                  <a:srgbClr val="F5F2EB"/>
                </a:solidFill>
                <a:latin typeface="Aptos"/>
              </a:rPr>
              <a:t>Consumer price inflation</a:t>
            </a:r>
          </a:p>
        </p:txBody>
      </p:sp>
      <p:sp>
        <p:nvSpPr>
          <p:cNvPr id="17" name="Rounded Rectangle 16"/>
          <p:cNvSpPr/>
          <p:nvPr/>
        </p:nvSpPr>
        <p:spPr>
          <a:xfrm>
            <a:off x="594360" y="4416552"/>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4507992"/>
            <a:ext cx="2514600" cy="219456"/>
          </a:xfrm>
          <a:prstGeom prst="rect">
            <a:avLst/>
          </a:prstGeom>
          <a:noFill/>
        </p:spPr>
        <p:txBody>
          <a:bodyPr wrap="square" anchor="t">
            <a:spAutoFit/>
          </a:bodyPr>
          <a:lstStyle/>
          <a:p>
            <a:pPr algn="l"/>
            <a:r>
              <a:rPr sz="1050" b="1">
                <a:solidFill>
                  <a:srgbClr val="F05A23"/>
                </a:solidFill>
                <a:latin typeface="Aptos"/>
              </a:rPr>
              <a:t>GDP (Current USD)</a:t>
            </a:r>
          </a:p>
        </p:txBody>
      </p:sp>
      <p:sp>
        <p:nvSpPr>
          <p:cNvPr id="19" name="TextBox 18"/>
          <p:cNvSpPr txBox="1"/>
          <p:nvPr/>
        </p:nvSpPr>
        <p:spPr>
          <a:xfrm>
            <a:off x="3200400" y="4489704"/>
            <a:ext cx="2487168" cy="384048"/>
          </a:xfrm>
          <a:prstGeom prst="rect">
            <a:avLst/>
          </a:prstGeom>
          <a:noFill/>
        </p:spPr>
        <p:txBody>
          <a:bodyPr wrap="square" anchor="t">
            <a:spAutoFit/>
          </a:bodyPr>
          <a:lstStyle/>
          <a:p>
            <a:pPr algn="l"/>
            <a:r>
              <a:rPr sz="1050" b="0">
                <a:solidFill>
                  <a:srgbClr val="F5F2EB"/>
                </a:solidFill>
                <a:latin typeface="Aptos"/>
              </a:rPr>
              <a:t>Total GDP in current US dollars</a:t>
            </a:r>
          </a:p>
        </p:txBody>
      </p:sp>
      <p:sp>
        <p:nvSpPr>
          <p:cNvPr id="20" name="Rounded Rectangle 19"/>
          <p:cNvSpPr/>
          <p:nvPr/>
        </p:nvSpPr>
        <p:spPr>
          <a:xfrm>
            <a:off x="594360" y="5166359"/>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5257799"/>
            <a:ext cx="2514600" cy="219456"/>
          </a:xfrm>
          <a:prstGeom prst="rect">
            <a:avLst/>
          </a:prstGeom>
          <a:noFill/>
        </p:spPr>
        <p:txBody>
          <a:bodyPr wrap="square" anchor="t">
            <a:spAutoFit/>
          </a:bodyPr>
          <a:lstStyle/>
          <a:p>
            <a:pPr algn="l"/>
            <a:r>
              <a:rPr sz="1050" b="1">
                <a:solidFill>
                  <a:srgbClr val="F05A23"/>
                </a:solidFill>
                <a:latin typeface="Aptos"/>
              </a:rPr>
              <a:t>GDP per Capita (Current USD)</a:t>
            </a:r>
          </a:p>
        </p:txBody>
      </p:sp>
      <p:sp>
        <p:nvSpPr>
          <p:cNvPr id="22" name="TextBox 21"/>
          <p:cNvSpPr txBox="1"/>
          <p:nvPr/>
        </p:nvSpPr>
        <p:spPr>
          <a:xfrm>
            <a:off x="3200400" y="5239512"/>
            <a:ext cx="2487168" cy="384048"/>
          </a:xfrm>
          <a:prstGeom prst="rect">
            <a:avLst/>
          </a:prstGeom>
          <a:noFill/>
        </p:spPr>
        <p:txBody>
          <a:bodyPr wrap="square" anchor="t">
            <a:spAutoFit/>
          </a:bodyPr>
          <a:lstStyle/>
          <a:p>
            <a:pPr algn="l"/>
            <a:r>
              <a:rPr sz="1050" b="0">
                <a:solidFill>
                  <a:srgbClr val="F5F2EB"/>
                </a:solidFill>
                <a:latin typeface="Aptos"/>
              </a:rPr>
              <a:t>GDP per person in current US dollars</a:t>
            </a:r>
          </a:p>
        </p:txBody>
      </p:sp>
      <p:sp>
        <p:nvSpPr>
          <p:cNvPr id="23" name="Rounded Rectangle 22"/>
          <p:cNvSpPr/>
          <p:nvPr/>
        </p:nvSpPr>
        <p:spPr>
          <a:xfrm>
            <a:off x="6217920" y="1417320"/>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1508760"/>
            <a:ext cx="2514600" cy="219456"/>
          </a:xfrm>
          <a:prstGeom prst="rect">
            <a:avLst/>
          </a:prstGeom>
          <a:noFill/>
        </p:spPr>
        <p:txBody>
          <a:bodyPr wrap="square" anchor="t">
            <a:spAutoFit/>
          </a:bodyPr>
          <a:lstStyle/>
          <a:p>
            <a:pPr algn="l"/>
            <a:r>
              <a:rPr sz="1050" b="1">
                <a:solidFill>
                  <a:srgbClr val="F05A23"/>
                </a:solidFill>
                <a:latin typeface="Aptos"/>
              </a:rPr>
              <a:t>Unemployment Rate (%)</a:t>
            </a:r>
          </a:p>
        </p:txBody>
      </p:sp>
      <p:sp>
        <p:nvSpPr>
          <p:cNvPr id="25" name="TextBox 24"/>
          <p:cNvSpPr txBox="1"/>
          <p:nvPr/>
        </p:nvSpPr>
        <p:spPr>
          <a:xfrm>
            <a:off x="8823960" y="1490472"/>
            <a:ext cx="2487168" cy="384048"/>
          </a:xfrm>
          <a:prstGeom prst="rect">
            <a:avLst/>
          </a:prstGeom>
          <a:noFill/>
        </p:spPr>
        <p:txBody>
          <a:bodyPr wrap="square" anchor="t">
            <a:spAutoFit/>
          </a:bodyPr>
          <a:lstStyle/>
          <a:p>
            <a:pPr algn="l"/>
            <a:r>
              <a:rPr sz="1050" b="0">
                <a:solidFill>
                  <a:srgbClr val="F5F2EB"/>
                </a:solidFill>
                <a:latin typeface="Aptos"/>
              </a:rPr>
              <a:t>Unemployment as a percentage</a:t>
            </a:r>
          </a:p>
        </p:txBody>
      </p:sp>
      <p:sp>
        <p:nvSpPr>
          <p:cNvPr id="26" name="Rounded Rectangle 25"/>
          <p:cNvSpPr/>
          <p:nvPr/>
        </p:nvSpPr>
        <p:spPr>
          <a:xfrm>
            <a:off x="6217920" y="2167128"/>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4224" y="2258568"/>
            <a:ext cx="2514600" cy="219456"/>
          </a:xfrm>
          <a:prstGeom prst="rect">
            <a:avLst/>
          </a:prstGeom>
          <a:noFill/>
        </p:spPr>
        <p:txBody>
          <a:bodyPr wrap="square" anchor="t">
            <a:spAutoFit/>
          </a:bodyPr>
          <a:lstStyle/>
          <a:p>
            <a:pPr algn="l"/>
            <a:r>
              <a:rPr sz="1050" b="1">
                <a:solidFill>
                  <a:srgbClr val="F05A23"/>
                </a:solidFill>
                <a:latin typeface="Aptos"/>
              </a:rPr>
              <a:t>Inflation (GDP Deflator, %)</a:t>
            </a:r>
          </a:p>
        </p:txBody>
      </p:sp>
      <p:sp>
        <p:nvSpPr>
          <p:cNvPr id="28" name="TextBox 27"/>
          <p:cNvSpPr txBox="1"/>
          <p:nvPr/>
        </p:nvSpPr>
        <p:spPr>
          <a:xfrm>
            <a:off x="8823960" y="2240280"/>
            <a:ext cx="2487168" cy="384048"/>
          </a:xfrm>
          <a:prstGeom prst="rect">
            <a:avLst/>
          </a:prstGeom>
          <a:noFill/>
        </p:spPr>
        <p:txBody>
          <a:bodyPr wrap="square" anchor="t">
            <a:spAutoFit/>
          </a:bodyPr>
          <a:lstStyle/>
          <a:p>
            <a:pPr algn="l"/>
            <a:r>
              <a:rPr sz="1050" b="0">
                <a:solidFill>
                  <a:srgbClr val="F5F2EB"/>
                </a:solidFill>
                <a:latin typeface="Aptos"/>
              </a:rPr>
              <a:t>Inflation measured by the GDP deflator</a:t>
            </a:r>
          </a:p>
        </p:txBody>
      </p:sp>
      <p:sp>
        <p:nvSpPr>
          <p:cNvPr id="29" name="Rounded Rectangle 28"/>
          <p:cNvSpPr/>
          <p:nvPr/>
        </p:nvSpPr>
        <p:spPr>
          <a:xfrm>
            <a:off x="6217920" y="2916936"/>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3008376"/>
            <a:ext cx="2514600" cy="219456"/>
          </a:xfrm>
          <a:prstGeom prst="rect">
            <a:avLst/>
          </a:prstGeom>
          <a:noFill/>
        </p:spPr>
        <p:txBody>
          <a:bodyPr wrap="square" anchor="t">
            <a:spAutoFit/>
          </a:bodyPr>
          <a:lstStyle/>
          <a:p>
            <a:pPr algn="l"/>
            <a:r>
              <a:rPr sz="1050" b="1">
                <a:solidFill>
                  <a:srgbClr val="F05A23"/>
                </a:solidFill>
                <a:latin typeface="Aptos"/>
              </a:rPr>
              <a:t>GDP Growth (% Annual)</a:t>
            </a:r>
          </a:p>
        </p:txBody>
      </p:sp>
      <p:sp>
        <p:nvSpPr>
          <p:cNvPr id="31" name="TextBox 30"/>
          <p:cNvSpPr txBox="1"/>
          <p:nvPr/>
        </p:nvSpPr>
        <p:spPr>
          <a:xfrm>
            <a:off x="8823960" y="2990088"/>
            <a:ext cx="2487168" cy="384048"/>
          </a:xfrm>
          <a:prstGeom prst="rect">
            <a:avLst/>
          </a:prstGeom>
          <a:noFill/>
        </p:spPr>
        <p:txBody>
          <a:bodyPr wrap="square" anchor="t">
            <a:spAutoFit/>
          </a:bodyPr>
          <a:lstStyle/>
          <a:p>
            <a:pPr algn="l"/>
            <a:r>
              <a:rPr sz="1050" b="0">
                <a:solidFill>
                  <a:srgbClr val="F5F2EB"/>
                </a:solidFill>
                <a:latin typeface="Aptos"/>
              </a:rPr>
              <a:t>Annual GDP growth rate</a:t>
            </a:r>
          </a:p>
        </p:txBody>
      </p:sp>
      <p:sp>
        <p:nvSpPr>
          <p:cNvPr id="32" name="Rounded Rectangle 31"/>
          <p:cNvSpPr/>
          <p:nvPr/>
        </p:nvSpPr>
        <p:spPr>
          <a:xfrm>
            <a:off x="6217920" y="3666744"/>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64224" y="3758183"/>
            <a:ext cx="2514600" cy="219456"/>
          </a:xfrm>
          <a:prstGeom prst="rect">
            <a:avLst/>
          </a:prstGeom>
          <a:noFill/>
        </p:spPr>
        <p:txBody>
          <a:bodyPr wrap="square" anchor="t">
            <a:spAutoFit/>
          </a:bodyPr>
          <a:lstStyle/>
          <a:p>
            <a:pPr algn="l"/>
            <a:r>
              <a:rPr sz="1050" b="1">
                <a:solidFill>
                  <a:srgbClr val="F05A23"/>
                </a:solidFill>
                <a:latin typeface="Aptos"/>
              </a:rPr>
              <a:t>Current Account Balance (% GDP)</a:t>
            </a:r>
          </a:p>
        </p:txBody>
      </p:sp>
      <p:sp>
        <p:nvSpPr>
          <p:cNvPr id="34" name="TextBox 33"/>
          <p:cNvSpPr txBox="1"/>
          <p:nvPr/>
        </p:nvSpPr>
        <p:spPr>
          <a:xfrm>
            <a:off x="8823960" y="3739896"/>
            <a:ext cx="2487168" cy="384048"/>
          </a:xfrm>
          <a:prstGeom prst="rect">
            <a:avLst/>
          </a:prstGeom>
          <a:noFill/>
        </p:spPr>
        <p:txBody>
          <a:bodyPr wrap="square" anchor="t">
            <a:spAutoFit/>
          </a:bodyPr>
          <a:lstStyle/>
          <a:p>
            <a:pPr algn="l"/>
            <a:r>
              <a:rPr sz="1050" b="0">
                <a:solidFill>
                  <a:srgbClr val="F5F2EB"/>
                </a:solidFill>
                <a:latin typeface="Aptos"/>
              </a:rPr>
              <a:t>Current account balance relative to GDP</a:t>
            </a:r>
          </a:p>
        </p:txBody>
      </p:sp>
      <p:sp>
        <p:nvSpPr>
          <p:cNvPr id="35" name="Rounded Rectangle 34"/>
          <p:cNvSpPr/>
          <p:nvPr/>
        </p:nvSpPr>
        <p:spPr>
          <a:xfrm>
            <a:off x="6217920" y="4416552"/>
            <a:ext cx="5257800" cy="612648"/>
          </a:xfrm>
          <a:prstGeom prst="roundRect">
            <a:avLst/>
          </a:prstGeom>
          <a:solidFill>
            <a:srgbClr val="232323"/>
          </a:solidFill>
          <a:ln>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4224" y="4507992"/>
            <a:ext cx="2514600" cy="219456"/>
          </a:xfrm>
          <a:prstGeom prst="rect">
            <a:avLst/>
          </a:prstGeom>
          <a:noFill/>
        </p:spPr>
        <p:txBody>
          <a:bodyPr wrap="square" anchor="t">
            <a:spAutoFit/>
          </a:bodyPr>
          <a:lstStyle/>
          <a:p>
            <a:pPr algn="l"/>
            <a:r>
              <a:rPr sz="1050" b="1">
                <a:solidFill>
                  <a:srgbClr val="F05A23"/>
                </a:solidFill>
                <a:latin typeface="Aptos"/>
              </a:rPr>
              <a:t>Gross National Income (USD)</a:t>
            </a:r>
          </a:p>
        </p:txBody>
      </p:sp>
      <p:sp>
        <p:nvSpPr>
          <p:cNvPr id="37" name="TextBox 36"/>
          <p:cNvSpPr txBox="1"/>
          <p:nvPr/>
        </p:nvSpPr>
        <p:spPr>
          <a:xfrm>
            <a:off x="8823960" y="4489704"/>
            <a:ext cx="2487168" cy="384048"/>
          </a:xfrm>
          <a:prstGeom prst="rect">
            <a:avLst/>
          </a:prstGeom>
          <a:noFill/>
        </p:spPr>
        <p:txBody>
          <a:bodyPr wrap="square" anchor="t">
            <a:spAutoFit/>
          </a:bodyPr>
          <a:lstStyle/>
          <a:p>
            <a:pPr algn="l"/>
            <a:r>
              <a:rPr sz="1050" b="0">
                <a:solidFill>
                  <a:srgbClr val="F5F2EB"/>
                </a:solidFill>
                <a:latin typeface="Aptos"/>
              </a:rPr>
              <a:t>Gross national income in US dollars</a:t>
            </a:r>
          </a:p>
        </p:txBody>
      </p:sp>
      <p:sp>
        <p:nvSpPr>
          <p:cNvPr id="38" name="TextBox 37"/>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DATA CLEANING &amp; PREPARATION</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Problems found and how they were handled</a:t>
            </a:r>
          </a:p>
        </p:txBody>
      </p:sp>
      <p:sp>
        <p:nvSpPr>
          <p:cNvPr id="5" name="TextBox 4"/>
          <p:cNvSpPr txBox="1"/>
          <p:nvPr/>
        </p:nvSpPr>
        <p:spPr>
          <a:xfrm>
            <a:off x="640080" y="1417320"/>
            <a:ext cx="2926080" cy="320040"/>
          </a:xfrm>
          <a:prstGeom prst="rect">
            <a:avLst/>
          </a:prstGeom>
          <a:noFill/>
        </p:spPr>
        <p:txBody>
          <a:bodyPr wrap="square" anchor="t">
            <a:spAutoFit/>
          </a:bodyPr>
          <a:lstStyle/>
          <a:p>
            <a:pPr algn="l"/>
            <a:r>
              <a:rPr sz="1300" b="1">
                <a:solidFill>
                  <a:srgbClr val="F05A23"/>
                </a:solidFill>
                <a:latin typeface="Aptos"/>
              </a:rPr>
              <a:t>MAIN DATA PROBLEMS</a:t>
            </a:r>
          </a:p>
        </p:txBody>
      </p:sp>
      <p:sp>
        <p:nvSpPr>
          <p:cNvPr id="6" name="TextBox 5"/>
          <p:cNvSpPr txBox="1"/>
          <p:nvPr/>
        </p:nvSpPr>
        <p:spPr>
          <a:xfrm>
            <a:off x="685800" y="1828800"/>
            <a:ext cx="5212080" cy="1920240"/>
          </a:xfrm>
          <a:prstGeom prst="rect">
            <a:avLst/>
          </a:prstGeom>
          <a:noFill/>
        </p:spPr>
        <p:txBody>
          <a:bodyPr wrap="square">
            <a:spAutoFit/>
          </a:bodyPr>
          <a:lstStyle/>
          <a:p>
            <a:pPr>
              <a:spcAft>
                <a:spcPts val="800"/>
              </a:spcAft>
              <a:defRPr sz="1600">
                <a:solidFill>
                  <a:srgbClr val="F5F2EB"/>
                </a:solidFill>
                <a:latin typeface="Aptos"/>
              </a:defRPr>
            </a:pPr>
            <a:r>
              <a:t>• Large amounts of missing data in several indicators.</a:t>
            </a:r>
          </a:p>
          <a:p>
            <a:pPr>
              <a:spcAft>
                <a:spcPts val="800"/>
              </a:spcAft>
              <a:defRPr sz="1600">
                <a:solidFill>
                  <a:srgbClr val="F5F2EB"/>
                </a:solidFill>
                <a:latin typeface="Aptos"/>
              </a:defRPr>
            </a:pPr>
            <a:r>
              <a:t>• 2024 and 2025 had poor completeness for the economic indicators.</a:t>
            </a:r>
          </a:p>
          <a:p>
            <a:pPr>
              <a:spcAft>
                <a:spcPts val="800"/>
              </a:spcAft>
              <a:defRPr sz="1600">
                <a:solidFill>
                  <a:srgbClr val="F5F2EB"/>
                </a:solidFill>
                <a:latin typeface="Aptos"/>
              </a:defRPr>
            </a:pPr>
            <a:r>
              <a:t>• Keeping highly incomplete variables would reduce the reliability of comparisons.</a:t>
            </a:r>
          </a:p>
        </p:txBody>
      </p:sp>
      <p:sp>
        <p:nvSpPr>
          <p:cNvPr id="7" name="TextBox 6"/>
          <p:cNvSpPr txBox="1"/>
          <p:nvPr/>
        </p:nvSpPr>
        <p:spPr>
          <a:xfrm>
            <a:off x="640080" y="3977639"/>
            <a:ext cx="3840480" cy="320040"/>
          </a:xfrm>
          <a:prstGeom prst="rect">
            <a:avLst/>
          </a:prstGeom>
          <a:noFill/>
        </p:spPr>
        <p:txBody>
          <a:bodyPr wrap="square" anchor="t">
            <a:spAutoFit/>
          </a:bodyPr>
          <a:lstStyle/>
          <a:p>
            <a:pPr algn="l"/>
            <a:r>
              <a:rPr sz="1300" b="1">
                <a:solidFill>
                  <a:srgbClr val="F05A23"/>
                </a:solidFill>
                <a:latin typeface="Aptos"/>
              </a:rPr>
              <a:t>MISSINGNESS BEFORE CLEANING</a:t>
            </a:r>
          </a:p>
        </p:txBody>
      </p:sp>
      <p:sp>
        <p:nvSpPr>
          <p:cNvPr id="8" name="TextBox 7"/>
          <p:cNvSpPr txBox="1"/>
          <p:nvPr/>
        </p:nvSpPr>
        <p:spPr>
          <a:xfrm>
            <a:off x="713232" y="4434840"/>
            <a:ext cx="2926080" cy="228600"/>
          </a:xfrm>
          <a:prstGeom prst="rect">
            <a:avLst/>
          </a:prstGeom>
          <a:noFill/>
        </p:spPr>
        <p:txBody>
          <a:bodyPr wrap="square" anchor="t">
            <a:spAutoFit/>
          </a:bodyPr>
          <a:lstStyle/>
          <a:p>
            <a:pPr algn="l"/>
            <a:r>
              <a:rPr sz="1200" b="0">
                <a:solidFill>
                  <a:srgbClr val="F5F2EB"/>
                </a:solidFill>
                <a:latin typeface="Aptos"/>
              </a:rPr>
              <a:t>Public Debt</a:t>
            </a:r>
          </a:p>
        </p:txBody>
      </p:sp>
      <p:sp>
        <p:nvSpPr>
          <p:cNvPr id="9" name="TextBox 8"/>
          <p:cNvSpPr txBox="1"/>
          <p:nvPr/>
        </p:nvSpPr>
        <p:spPr>
          <a:xfrm>
            <a:off x="3749039" y="4434840"/>
            <a:ext cx="914400" cy="228600"/>
          </a:xfrm>
          <a:prstGeom prst="rect">
            <a:avLst/>
          </a:prstGeom>
          <a:noFill/>
        </p:spPr>
        <p:txBody>
          <a:bodyPr wrap="square" anchor="t">
            <a:spAutoFit/>
          </a:bodyPr>
          <a:lstStyle/>
          <a:p>
            <a:pPr algn="r"/>
            <a:r>
              <a:rPr sz="1200" b="1">
                <a:solidFill>
                  <a:srgbClr val="F05A23"/>
                </a:solidFill>
                <a:latin typeface="Aptos"/>
              </a:rPr>
              <a:t>75.5%</a:t>
            </a:r>
          </a:p>
        </p:txBody>
      </p:sp>
      <p:sp>
        <p:nvSpPr>
          <p:cNvPr id="10" name="TextBox 9"/>
          <p:cNvSpPr txBox="1"/>
          <p:nvPr/>
        </p:nvSpPr>
        <p:spPr>
          <a:xfrm>
            <a:off x="713232" y="4800600"/>
            <a:ext cx="2926080" cy="228600"/>
          </a:xfrm>
          <a:prstGeom prst="rect">
            <a:avLst/>
          </a:prstGeom>
          <a:noFill/>
        </p:spPr>
        <p:txBody>
          <a:bodyPr wrap="square" anchor="t">
            <a:spAutoFit/>
          </a:bodyPr>
          <a:lstStyle/>
          <a:p>
            <a:pPr algn="l"/>
            <a:r>
              <a:rPr sz="1200" b="0">
                <a:solidFill>
                  <a:srgbClr val="F5F2EB"/>
                </a:solidFill>
                <a:latin typeface="Aptos"/>
              </a:rPr>
              <a:t>Interest Rate</a:t>
            </a:r>
          </a:p>
        </p:txBody>
      </p:sp>
      <p:sp>
        <p:nvSpPr>
          <p:cNvPr id="11" name="TextBox 10"/>
          <p:cNvSpPr txBox="1"/>
          <p:nvPr/>
        </p:nvSpPr>
        <p:spPr>
          <a:xfrm>
            <a:off x="3749039" y="4800600"/>
            <a:ext cx="914400" cy="228600"/>
          </a:xfrm>
          <a:prstGeom prst="rect">
            <a:avLst/>
          </a:prstGeom>
          <a:noFill/>
        </p:spPr>
        <p:txBody>
          <a:bodyPr wrap="square" anchor="t">
            <a:spAutoFit/>
          </a:bodyPr>
          <a:lstStyle/>
          <a:p>
            <a:pPr algn="r"/>
            <a:r>
              <a:rPr sz="1200" b="1">
                <a:solidFill>
                  <a:srgbClr val="F05A23"/>
                </a:solidFill>
                <a:latin typeface="Aptos"/>
              </a:rPr>
              <a:t>50.0%</a:t>
            </a:r>
          </a:p>
        </p:txBody>
      </p:sp>
      <p:sp>
        <p:nvSpPr>
          <p:cNvPr id="12" name="TextBox 11"/>
          <p:cNvSpPr txBox="1"/>
          <p:nvPr/>
        </p:nvSpPr>
        <p:spPr>
          <a:xfrm>
            <a:off x="713232" y="5166359"/>
            <a:ext cx="2926080" cy="228600"/>
          </a:xfrm>
          <a:prstGeom prst="rect">
            <a:avLst/>
          </a:prstGeom>
          <a:noFill/>
        </p:spPr>
        <p:txBody>
          <a:bodyPr wrap="square" anchor="t">
            <a:spAutoFit/>
          </a:bodyPr>
          <a:lstStyle/>
          <a:p>
            <a:pPr algn="l"/>
            <a:r>
              <a:rPr sz="1200" b="0">
                <a:solidFill>
                  <a:srgbClr val="F5F2EB"/>
                </a:solidFill>
                <a:latin typeface="Aptos"/>
              </a:rPr>
              <a:t>Government Expense</a:t>
            </a:r>
          </a:p>
        </p:txBody>
      </p:sp>
      <p:sp>
        <p:nvSpPr>
          <p:cNvPr id="13" name="TextBox 12"/>
          <p:cNvSpPr txBox="1"/>
          <p:nvPr/>
        </p:nvSpPr>
        <p:spPr>
          <a:xfrm>
            <a:off x="3749039" y="5166359"/>
            <a:ext cx="914400" cy="228600"/>
          </a:xfrm>
          <a:prstGeom prst="rect">
            <a:avLst/>
          </a:prstGeom>
          <a:noFill/>
        </p:spPr>
        <p:txBody>
          <a:bodyPr wrap="square" anchor="t">
            <a:spAutoFit/>
          </a:bodyPr>
          <a:lstStyle/>
          <a:p>
            <a:pPr algn="r"/>
            <a:r>
              <a:rPr sz="1200" b="1">
                <a:solidFill>
                  <a:srgbClr val="F05A23"/>
                </a:solidFill>
                <a:latin typeface="Aptos"/>
              </a:rPr>
              <a:t>47.6%</a:t>
            </a:r>
          </a:p>
        </p:txBody>
      </p:sp>
      <p:sp>
        <p:nvSpPr>
          <p:cNvPr id="14" name="TextBox 13"/>
          <p:cNvSpPr txBox="1"/>
          <p:nvPr/>
        </p:nvSpPr>
        <p:spPr>
          <a:xfrm>
            <a:off x="713232" y="5532120"/>
            <a:ext cx="2926080" cy="228600"/>
          </a:xfrm>
          <a:prstGeom prst="rect">
            <a:avLst/>
          </a:prstGeom>
          <a:noFill/>
        </p:spPr>
        <p:txBody>
          <a:bodyPr wrap="square" anchor="t">
            <a:spAutoFit/>
          </a:bodyPr>
          <a:lstStyle/>
          <a:p>
            <a:pPr algn="l"/>
            <a:r>
              <a:rPr sz="1200" b="0">
                <a:solidFill>
                  <a:srgbClr val="F5F2EB"/>
                </a:solidFill>
                <a:latin typeface="Aptos"/>
              </a:rPr>
              <a:t>Government Revenue</a:t>
            </a:r>
          </a:p>
        </p:txBody>
      </p:sp>
      <p:sp>
        <p:nvSpPr>
          <p:cNvPr id="15" name="TextBox 14"/>
          <p:cNvSpPr txBox="1"/>
          <p:nvPr/>
        </p:nvSpPr>
        <p:spPr>
          <a:xfrm>
            <a:off x="3749039" y="5532120"/>
            <a:ext cx="914400" cy="228600"/>
          </a:xfrm>
          <a:prstGeom prst="rect">
            <a:avLst/>
          </a:prstGeom>
          <a:noFill/>
        </p:spPr>
        <p:txBody>
          <a:bodyPr wrap="square" anchor="t">
            <a:spAutoFit/>
          </a:bodyPr>
          <a:lstStyle/>
          <a:p>
            <a:pPr algn="r"/>
            <a:r>
              <a:rPr sz="1200" b="1">
                <a:solidFill>
                  <a:srgbClr val="F05A23"/>
                </a:solidFill>
                <a:latin typeface="Aptos"/>
              </a:rPr>
              <a:t>47.3%</a:t>
            </a:r>
          </a:p>
        </p:txBody>
      </p:sp>
      <p:sp>
        <p:nvSpPr>
          <p:cNvPr id="16" name="TextBox 15"/>
          <p:cNvSpPr txBox="1"/>
          <p:nvPr/>
        </p:nvSpPr>
        <p:spPr>
          <a:xfrm>
            <a:off x="713232" y="5897879"/>
            <a:ext cx="2926080" cy="228600"/>
          </a:xfrm>
          <a:prstGeom prst="rect">
            <a:avLst/>
          </a:prstGeom>
          <a:noFill/>
        </p:spPr>
        <p:txBody>
          <a:bodyPr wrap="square" anchor="t">
            <a:spAutoFit/>
          </a:bodyPr>
          <a:lstStyle/>
          <a:p>
            <a:pPr algn="l"/>
            <a:r>
              <a:rPr sz="1200" b="0">
                <a:solidFill>
                  <a:srgbClr val="F5F2EB"/>
                </a:solidFill>
                <a:latin typeface="Aptos"/>
              </a:rPr>
              <a:t>Tax Revenue</a:t>
            </a:r>
          </a:p>
        </p:txBody>
      </p:sp>
      <p:sp>
        <p:nvSpPr>
          <p:cNvPr id="17" name="TextBox 16"/>
          <p:cNvSpPr txBox="1"/>
          <p:nvPr/>
        </p:nvSpPr>
        <p:spPr>
          <a:xfrm>
            <a:off x="3749039" y="5897879"/>
            <a:ext cx="914400" cy="228600"/>
          </a:xfrm>
          <a:prstGeom prst="rect">
            <a:avLst/>
          </a:prstGeom>
          <a:noFill/>
        </p:spPr>
        <p:txBody>
          <a:bodyPr wrap="square" anchor="t">
            <a:spAutoFit/>
          </a:bodyPr>
          <a:lstStyle/>
          <a:p>
            <a:pPr algn="r"/>
            <a:r>
              <a:rPr sz="1200" b="1">
                <a:solidFill>
                  <a:srgbClr val="F05A23"/>
                </a:solidFill>
                <a:latin typeface="Aptos"/>
              </a:rPr>
              <a:t>47.2%</a:t>
            </a:r>
          </a:p>
        </p:txBody>
      </p:sp>
      <p:sp>
        <p:nvSpPr>
          <p:cNvPr id="18" name="TextBox 17"/>
          <p:cNvSpPr txBox="1"/>
          <p:nvPr/>
        </p:nvSpPr>
        <p:spPr>
          <a:xfrm>
            <a:off x="6172200" y="1417320"/>
            <a:ext cx="2194560" cy="320040"/>
          </a:xfrm>
          <a:prstGeom prst="rect">
            <a:avLst/>
          </a:prstGeom>
          <a:noFill/>
        </p:spPr>
        <p:txBody>
          <a:bodyPr wrap="square" anchor="t">
            <a:spAutoFit/>
          </a:bodyPr>
          <a:lstStyle/>
          <a:p>
            <a:pPr algn="l"/>
            <a:r>
              <a:rPr sz="1300" b="1">
                <a:solidFill>
                  <a:srgbClr val="F05A23"/>
                </a:solidFill>
                <a:latin typeface="Aptos"/>
              </a:rPr>
              <a:t>CLEANING STEPS</a:t>
            </a:r>
          </a:p>
        </p:txBody>
      </p:sp>
      <p:sp>
        <p:nvSpPr>
          <p:cNvPr id="19" name="TextBox 18"/>
          <p:cNvSpPr txBox="1"/>
          <p:nvPr/>
        </p:nvSpPr>
        <p:spPr>
          <a:xfrm>
            <a:off x="6217920" y="1828800"/>
            <a:ext cx="5166360" cy="3017520"/>
          </a:xfrm>
          <a:prstGeom prst="rect">
            <a:avLst/>
          </a:prstGeom>
          <a:noFill/>
        </p:spPr>
        <p:txBody>
          <a:bodyPr wrap="square">
            <a:spAutoFit/>
          </a:bodyPr>
          <a:lstStyle/>
          <a:p>
            <a:pPr>
              <a:spcAft>
                <a:spcPts val="800"/>
              </a:spcAft>
              <a:defRPr sz="1600">
                <a:solidFill>
                  <a:srgbClr val="F5F2EB"/>
                </a:solidFill>
                <a:latin typeface="Aptos"/>
              </a:defRPr>
            </a:pPr>
            <a:r>
              <a:t>• Removed observations for years after 2023.</a:t>
            </a:r>
          </a:p>
          <a:p>
            <a:pPr>
              <a:spcAft>
                <a:spcPts val="800"/>
              </a:spcAft>
              <a:defRPr sz="1600">
                <a:solidFill>
                  <a:srgbClr val="F5F2EB"/>
                </a:solidFill>
                <a:latin typeface="Aptos"/>
              </a:defRPr>
            </a:pPr>
            <a:r>
              <a:t>• Removed five indicators with excessive missing values.</a:t>
            </a:r>
          </a:p>
          <a:p>
            <a:pPr>
              <a:spcAft>
                <a:spcPts val="800"/>
              </a:spcAft>
              <a:defRPr sz="1600">
                <a:solidFill>
                  <a:srgbClr val="F5F2EB"/>
                </a:solidFill>
                <a:latin typeface="Aptos"/>
              </a:defRPr>
            </a:pPr>
            <a:r>
              <a:t>• Checked available values and basic descriptive statistics.</a:t>
            </a:r>
          </a:p>
          <a:p>
            <a:pPr>
              <a:spcAft>
                <a:spcPts val="800"/>
              </a:spcAft>
              <a:defRPr sz="1600">
                <a:solidFill>
                  <a:srgbClr val="F5F2EB"/>
                </a:solidFill>
                <a:latin typeface="Aptos"/>
              </a:defRPr>
            </a:pPr>
            <a:r>
              <a:t>• Saved the cleaned dataset for analysis and Power BI.</a:t>
            </a:r>
          </a:p>
          <a:p>
            <a:pPr>
              <a:spcAft>
                <a:spcPts val="800"/>
              </a:spcAft>
              <a:defRPr sz="1600">
                <a:solidFill>
                  <a:srgbClr val="F5F2EB"/>
                </a:solidFill>
                <a:latin typeface="Aptos"/>
              </a:defRPr>
            </a:pPr>
            <a:r>
              <a:t>• Remaining missing values were kept rather than artificially filled.</a:t>
            </a:r>
          </a:p>
        </p:txBody>
      </p:sp>
      <p:sp>
        <p:nvSpPr>
          <p:cNvPr id="20" name="Rounded Rectangle 19"/>
          <p:cNvSpPr/>
          <p:nvPr/>
        </p:nvSpPr>
        <p:spPr>
          <a:xfrm>
            <a:off x="6400800" y="4983480"/>
            <a:ext cx="2240280" cy="10058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5148072"/>
            <a:ext cx="1911096" cy="438912"/>
          </a:xfrm>
          <a:prstGeom prst="rect">
            <a:avLst/>
          </a:prstGeom>
          <a:noFill/>
        </p:spPr>
        <p:txBody>
          <a:bodyPr wrap="square" anchor="t">
            <a:spAutoFit/>
          </a:bodyPr>
          <a:lstStyle/>
          <a:p>
            <a:pPr algn="l"/>
            <a:r>
              <a:rPr sz="2500" b="1">
                <a:solidFill>
                  <a:srgbClr val="F5F2EB"/>
                </a:solidFill>
                <a:latin typeface="Aptos"/>
              </a:rPr>
              <a:t>3,038</a:t>
            </a:r>
          </a:p>
        </p:txBody>
      </p:sp>
      <p:sp>
        <p:nvSpPr>
          <p:cNvPr id="22" name="TextBox 21"/>
          <p:cNvSpPr txBox="1"/>
          <p:nvPr/>
        </p:nvSpPr>
        <p:spPr>
          <a:xfrm>
            <a:off x="6565392" y="5669280"/>
            <a:ext cx="1911096" cy="274320"/>
          </a:xfrm>
          <a:prstGeom prst="rect">
            <a:avLst/>
          </a:prstGeom>
          <a:noFill/>
        </p:spPr>
        <p:txBody>
          <a:bodyPr wrap="square" anchor="t">
            <a:spAutoFit/>
          </a:bodyPr>
          <a:lstStyle/>
          <a:p>
            <a:pPr algn="l"/>
            <a:r>
              <a:rPr sz="1000" b="0">
                <a:solidFill>
                  <a:srgbClr val="AFAFAF"/>
                </a:solidFill>
                <a:latin typeface="Aptos"/>
              </a:rPr>
              <a:t>Clean observations</a:t>
            </a:r>
          </a:p>
        </p:txBody>
      </p:sp>
      <p:sp>
        <p:nvSpPr>
          <p:cNvPr id="23" name="Rounded Rectangle 22"/>
          <p:cNvSpPr/>
          <p:nvPr/>
        </p:nvSpPr>
        <p:spPr>
          <a:xfrm>
            <a:off x="8869680" y="4983480"/>
            <a:ext cx="2240280" cy="100584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34272" y="5148072"/>
            <a:ext cx="1911096" cy="438912"/>
          </a:xfrm>
          <a:prstGeom prst="rect">
            <a:avLst/>
          </a:prstGeom>
          <a:noFill/>
        </p:spPr>
        <p:txBody>
          <a:bodyPr wrap="square" anchor="t">
            <a:spAutoFit/>
          </a:bodyPr>
          <a:lstStyle/>
          <a:p>
            <a:pPr algn="l"/>
            <a:r>
              <a:rPr sz="2500" b="1">
                <a:solidFill>
                  <a:srgbClr val="F5F2EB"/>
                </a:solidFill>
                <a:latin typeface="Aptos"/>
              </a:rPr>
              <a:t>2010–2023</a:t>
            </a:r>
          </a:p>
        </p:txBody>
      </p:sp>
      <p:sp>
        <p:nvSpPr>
          <p:cNvPr id="25" name="TextBox 24"/>
          <p:cNvSpPr txBox="1"/>
          <p:nvPr/>
        </p:nvSpPr>
        <p:spPr>
          <a:xfrm>
            <a:off x="9034272" y="5669280"/>
            <a:ext cx="1911096" cy="274320"/>
          </a:xfrm>
          <a:prstGeom prst="rect">
            <a:avLst/>
          </a:prstGeom>
          <a:noFill/>
        </p:spPr>
        <p:txBody>
          <a:bodyPr wrap="square" anchor="t">
            <a:spAutoFit/>
          </a:bodyPr>
          <a:lstStyle/>
          <a:p>
            <a:pPr algn="l"/>
            <a:r>
              <a:rPr sz="1000" b="0">
                <a:solidFill>
                  <a:srgbClr val="AFAFAF"/>
                </a:solidFill>
                <a:latin typeface="Aptos"/>
              </a:rPr>
              <a:t>Final period</a:t>
            </a:r>
          </a:p>
        </p:txBody>
      </p:sp>
      <p:sp>
        <p:nvSpPr>
          <p:cNvPr id="26" name="TextBox 25"/>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PYTHON ANALYSIS</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Pandas and Matplotlib were used for exploratory analysis</a:t>
            </a:r>
          </a:p>
        </p:txBody>
      </p:sp>
      <p:sp>
        <p:nvSpPr>
          <p:cNvPr id="5" name="TextBox 4"/>
          <p:cNvSpPr txBox="1"/>
          <p:nvPr/>
        </p:nvSpPr>
        <p:spPr>
          <a:xfrm>
            <a:off x="640080" y="1417320"/>
            <a:ext cx="1097280" cy="320040"/>
          </a:xfrm>
          <a:prstGeom prst="rect">
            <a:avLst/>
          </a:prstGeom>
          <a:noFill/>
        </p:spPr>
        <p:txBody>
          <a:bodyPr wrap="square" anchor="t">
            <a:spAutoFit/>
          </a:bodyPr>
          <a:lstStyle/>
          <a:p>
            <a:pPr algn="l"/>
            <a:r>
              <a:rPr sz="1300" b="1">
                <a:solidFill>
                  <a:srgbClr val="F05A23"/>
                </a:solidFill>
                <a:latin typeface="Aptos"/>
              </a:rPr>
              <a:t>PROCESS</a:t>
            </a:r>
          </a:p>
        </p:txBody>
      </p:sp>
      <p:sp>
        <p:nvSpPr>
          <p:cNvPr id="6" name="Oval 5"/>
          <p:cNvSpPr/>
          <p:nvPr/>
        </p:nvSpPr>
        <p:spPr>
          <a:xfrm>
            <a:off x="658368"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38528"/>
            <a:ext cx="411480" cy="182880"/>
          </a:xfrm>
          <a:prstGeom prst="rect">
            <a:avLst/>
          </a:prstGeom>
          <a:noFill/>
        </p:spPr>
        <p:txBody>
          <a:bodyPr wrap="square" anchor="t">
            <a:spAutoFit/>
          </a:bodyPr>
          <a:lstStyle/>
          <a:p>
            <a:pPr algn="ctr"/>
            <a:r>
              <a:rPr sz="1000" b="1">
                <a:solidFill>
                  <a:srgbClr val="080808"/>
                </a:solidFill>
                <a:latin typeface="Aptos"/>
              </a:rPr>
              <a:t>1</a:t>
            </a:r>
          </a:p>
        </p:txBody>
      </p:sp>
      <p:sp>
        <p:nvSpPr>
          <p:cNvPr id="8" name="TextBox 7"/>
          <p:cNvSpPr txBox="1"/>
          <p:nvPr/>
        </p:nvSpPr>
        <p:spPr>
          <a:xfrm>
            <a:off x="1133856" y="1883664"/>
            <a:ext cx="1325880" cy="365760"/>
          </a:xfrm>
          <a:prstGeom prst="rect">
            <a:avLst/>
          </a:prstGeom>
          <a:noFill/>
        </p:spPr>
        <p:txBody>
          <a:bodyPr wrap="square" anchor="t">
            <a:spAutoFit/>
          </a:bodyPr>
          <a:lstStyle/>
          <a:p>
            <a:pPr algn="l"/>
            <a:r>
              <a:rPr sz="1150" b="1">
                <a:solidFill>
                  <a:srgbClr val="F5F2EB"/>
                </a:solidFill>
                <a:latin typeface="Aptos"/>
              </a:rPr>
              <a:t>Load CSV</a:t>
            </a:r>
          </a:p>
        </p:txBody>
      </p:sp>
      <p:sp>
        <p:nvSpPr>
          <p:cNvPr id="9" name="Oval 8"/>
          <p:cNvSpPr/>
          <p:nvPr/>
        </p:nvSpPr>
        <p:spPr>
          <a:xfrm>
            <a:off x="2532887"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32887" y="1938528"/>
            <a:ext cx="411480" cy="182880"/>
          </a:xfrm>
          <a:prstGeom prst="rect">
            <a:avLst/>
          </a:prstGeom>
          <a:noFill/>
        </p:spPr>
        <p:txBody>
          <a:bodyPr wrap="square" anchor="t">
            <a:spAutoFit/>
          </a:bodyPr>
          <a:lstStyle/>
          <a:p>
            <a:pPr algn="ctr"/>
            <a:r>
              <a:rPr sz="1000" b="1">
                <a:solidFill>
                  <a:srgbClr val="080808"/>
                </a:solidFill>
                <a:latin typeface="Aptos"/>
              </a:rPr>
              <a:t>2</a:t>
            </a:r>
          </a:p>
        </p:txBody>
      </p:sp>
      <p:sp>
        <p:nvSpPr>
          <p:cNvPr id="11" name="TextBox 10"/>
          <p:cNvSpPr txBox="1"/>
          <p:nvPr/>
        </p:nvSpPr>
        <p:spPr>
          <a:xfrm>
            <a:off x="3008375" y="1883664"/>
            <a:ext cx="1325880" cy="365760"/>
          </a:xfrm>
          <a:prstGeom prst="rect">
            <a:avLst/>
          </a:prstGeom>
          <a:noFill/>
        </p:spPr>
        <p:txBody>
          <a:bodyPr wrap="square" anchor="t">
            <a:spAutoFit/>
          </a:bodyPr>
          <a:lstStyle/>
          <a:p>
            <a:pPr algn="l"/>
            <a:r>
              <a:rPr sz="1150" b="1">
                <a:solidFill>
                  <a:srgbClr val="F5F2EB"/>
                </a:solidFill>
                <a:latin typeface="Aptos"/>
              </a:rPr>
              <a:t>Clean data</a:t>
            </a:r>
          </a:p>
        </p:txBody>
      </p:sp>
      <p:sp>
        <p:nvSpPr>
          <p:cNvPr id="12" name="Oval 11"/>
          <p:cNvSpPr/>
          <p:nvPr/>
        </p:nvSpPr>
        <p:spPr>
          <a:xfrm>
            <a:off x="4407407"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938528"/>
            <a:ext cx="411480" cy="182880"/>
          </a:xfrm>
          <a:prstGeom prst="rect">
            <a:avLst/>
          </a:prstGeom>
          <a:noFill/>
        </p:spPr>
        <p:txBody>
          <a:bodyPr wrap="square" anchor="t">
            <a:spAutoFit/>
          </a:bodyPr>
          <a:lstStyle/>
          <a:p>
            <a:pPr algn="ctr"/>
            <a:r>
              <a:rPr sz="1000" b="1">
                <a:solidFill>
                  <a:srgbClr val="080808"/>
                </a:solidFill>
                <a:latin typeface="Aptos"/>
              </a:rPr>
              <a:t>3</a:t>
            </a:r>
          </a:p>
        </p:txBody>
      </p:sp>
      <p:sp>
        <p:nvSpPr>
          <p:cNvPr id="14" name="TextBox 13"/>
          <p:cNvSpPr txBox="1"/>
          <p:nvPr/>
        </p:nvSpPr>
        <p:spPr>
          <a:xfrm>
            <a:off x="4882896" y="1883664"/>
            <a:ext cx="1325880" cy="365760"/>
          </a:xfrm>
          <a:prstGeom prst="rect">
            <a:avLst/>
          </a:prstGeom>
          <a:noFill/>
        </p:spPr>
        <p:txBody>
          <a:bodyPr wrap="square" anchor="t">
            <a:spAutoFit/>
          </a:bodyPr>
          <a:lstStyle/>
          <a:p>
            <a:pPr algn="l"/>
            <a:r>
              <a:rPr sz="1150" b="1">
                <a:solidFill>
                  <a:srgbClr val="F5F2EB"/>
                </a:solidFill>
                <a:latin typeface="Aptos"/>
              </a:rPr>
              <a:t>Group by country</a:t>
            </a:r>
          </a:p>
        </p:txBody>
      </p:sp>
      <p:sp>
        <p:nvSpPr>
          <p:cNvPr id="15" name="Oval 14"/>
          <p:cNvSpPr/>
          <p:nvPr/>
        </p:nvSpPr>
        <p:spPr>
          <a:xfrm>
            <a:off x="6281927"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7" y="1938528"/>
            <a:ext cx="411480" cy="182880"/>
          </a:xfrm>
          <a:prstGeom prst="rect">
            <a:avLst/>
          </a:prstGeom>
          <a:noFill/>
        </p:spPr>
        <p:txBody>
          <a:bodyPr wrap="square" anchor="t">
            <a:spAutoFit/>
          </a:bodyPr>
          <a:lstStyle/>
          <a:p>
            <a:pPr algn="ctr"/>
            <a:r>
              <a:rPr sz="1000" b="1">
                <a:solidFill>
                  <a:srgbClr val="080808"/>
                </a:solidFill>
                <a:latin typeface="Aptos"/>
              </a:rPr>
              <a:t>4</a:t>
            </a:r>
          </a:p>
        </p:txBody>
      </p:sp>
      <p:sp>
        <p:nvSpPr>
          <p:cNvPr id="17" name="TextBox 16"/>
          <p:cNvSpPr txBox="1"/>
          <p:nvPr/>
        </p:nvSpPr>
        <p:spPr>
          <a:xfrm>
            <a:off x="6757415" y="1883664"/>
            <a:ext cx="1325880" cy="365760"/>
          </a:xfrm>
          <a:prstGeom prst="rect">
            <a:avLst/>
          </a:prstGeom>
          <a:noFill/>
        </p:spPr>
        <p:txBody>
          <a:bodyPr wrap="square" anchor="t">
            <a:spAutoFit/>
          </a:bodyPr>
          <a:lstStyle/>
          <a:p>
            <a:pPr algn="l"/>
            <a:r>
              <a:rPr sz="1150" b="1">
                <a:solidFill>
                  <a:srgbClr val="F5F2EB"/>
                </a:solidFill>
                <a:latin typeface="Aptos"/>
              </a:rPr>
              <a:t>Calculate averages</a:t>
            </a:r>
          </a:p>
        </p:txBody>
      </p:sp>
      <p:sp>
        <p:nvSpPr>
          <p:cNvPr id="18" name="Oval 17"/>
          <p:cNvSpPr/>
          <p:nvPr/>
        </p:nvSpPr>
        <p:spPr>
          <a:xfrm>
            <a:off x="8156448"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1938528"/>
            <a:ext cx="411480" cy="182880"/>
          </a:xfrm>
          <a:prstGeom prst="rect">
            <a:avLst/>
          </a:prstGeom>
          <a:noFill/>
        </p:spPr>
        <p:txBody>
          <a:bodyPr wrap="square" anchor="t">
            <a:spAutoFit/>
          </a:bodyPr>
          <a:lstStyle/>
          <a:p>
            <a:pPr algn="ctr"/>
            <a:r>
              <a:rPr sz="1000" b="1">
                <a:solidFill>
                  <a:srgbClr val="080808"/>
                </a:solidFill>
                <a:latin typeface="Aptos"/>
              </a:rPr>
              <a:t>5</a:t>
            </a:r>
          </a:p>
        </p:txBody>
      </p:sp>
      <p:sp>
        <p:nvSpPr>
          <p:cNvPr id="20" name="TextBox 19"/>
          <p:cNvSpPr txBox="1"/>
          <p:nvPr/>
        </p:nvSpPr>
        <p:spPr>
          <a:xfrm>
            <a:off x="8631936" y="1883664"/>
            <a:ext cx="1325880" cy="365760"/>
          </a:xfrm>
          <a:prstGeom prst="rect">
            <a:avLst/>
          </a:prstGeom>
          <a:noFill/>
        </p:spPr>
        <p:txBody>
          <a:bodyPr wrap="square" anchor="t">
            <a:spAutoFit/>
          </a:bodyPr>
          <a:lstStyle/>
          <a:p>
            <a:pPr algn="l"/>
            <a:r>
              <a:rPr sz="1150" b="1">
                <a:solidFill>
                  <a:srgbClr val="F5F2EB"/>
                </a:solidFill>
                <a:latin typeface="Aptos"/>
              </a:rPr>
              <a:t>Find top 10</a:t>
            </a:r>
          </a:p>
        </p:txBody>
      </p:sp>
      <p:sp>
        <p:nvSpPr>
          <p:cNvPr id="21" name="Oval 20"/>
          <p:cNvSpPr/>
          <p:nvPr/>
        </p:nvSpPr>
        <p:spPr>
          <a:xfrm>
            <a:off x="10030968" y="1874519"/>
            <a:ext cx="411480" cy="411480"/>
          </a:xfrm>
          <a:prstGeom prst="ellipse">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30968" y="1938528"/>
            <a:ext cx="411480" cy="182880"/>
          </a:xfrm>
          <a:prstGeom prst="rect">
            <a:avLst/>
          </a:prstGeom>
          <a:noFill/>
        </p:spPr>
        <p:txBody>
          <a:bodyPr wrap="square" anchor="t">
            <a:spAutoFit/>
          </a:bodyPr>
          <a:lstStyle/>
          <a:p>
            <a:pPr algn="ctr"/>
            <a:r>
              <a:rPr sz="1000" b="1">
                <a:solidFill>
                  <a:srgbClr val="080808"/>
                </a:solidFill>
                <a:latin typeface="Aptos"/>
              </a:rPr>
              <a:t>6</a:t>
            </a:r>
          </a:p>
        </p:txBody>
      </p:sp>
      <p:sp>
        <p:nvSpPr>
          <p:cNvPr id="23" name="TextBox 22"/>
          <p:cNvSpPr txBox="1"/>
          <p:nvPr/>
        </p:nvSpPr>
        <p:spPr>
          <a:xfrm>
            <a:off x="10506456" y="1883664"/>
            <a:ext cx="1325880" cy="365760"/>
          </a:xfrm>
          <a:prstGeom prst="rect">
            <a:avLst/>
          </a:prstGeom>
          <a:noFill/>
        </p:spPr>
        <p:txBody>
          <a:bodyPr wrap="square" anchor="t">
            <a:spAutoFit/>
          </a:bodyPr>
          <a:lstStyle/>
          <a:p>
            <a:pPr algn="l"/>
            <a:r>
              <a:rPr sz="1150" b="1">
                <a:solidFill>
                  <a:srgbClr val="F5F2EB"/>
                </a:solidFill>
                <a:latin typeface="Aptos"/>
              </a:rPr>
              <a:t>Visualize results</a:t>
            </a:r>
          </a:p>
        </p:txBody>
      </p:sp>
      <p:sp>
        <p:nvSpPr>
          <p:cNvPr id="24" name="TextBox 23"/>
          <p:cNvSpPr txBox="1"/>
          <p:nvPr/>
        </p:nvSpPr>
        <p:spPr>
          <a:xfrm>
            <a:off x="640080" y="2788920"/>
            <a:ext cx="1828800" cy="320040"/>
          </a:xfrm>
          <a:prstGeom prst="rect">
            <a:avLst/>
          </a:prstGeom>
          <a:noFill/>
        </p:spPr>
        <p:txBody>
          <a:bodyPr wrap="square" anchor="t">
            <a:spAutoFit/>
          </a:bodyPr>
          <a:lstStyle/>
          <a:p>
            <a:pPr algn="l"/>
            <a:r>
              <a:rPr sz="1300" b="1">
                <a:solidFill>
                  <a:srgbClr val="F05A23"/>
                </a:solidFill>
                <a:latin typeface="Aptos"/>
              </a:rPr>
              <a:t>TOP-10 ANALYSES</a:t>
            </a:r>
          </a:p>
        </p:txBody>
      </p:sp>
      <p:sp>
        <p:nvSpPr>
          <p:cNvPr id="25" name="TextBox 24"/>
          <p:cNvSpPr txBox="1"/>
          <p:nvPr/>
        </p:nvSpPr>
        <p:spPr>
          <a:xfrm>
            <a:off x="713232" y="3200400"/>
            <a:ext cx="4754880" cy="2377440"/>
          </a:xfrm>
          <a:prstGeom prst="rect">
            <a:avLst/>
          </a:prstGeom>
          <a:noFill/>
        </p:spPr>
        <p:txBody>
          <a:bodyPr wrap="square">
            <a:spAutoFit/>
          </a:bodyPr>
          <a:lstStyle/>
          <a:p>
            <a:pPr>
              <a:spcAft>
                <a:spcPts val="800"/>
              </a:spcAft>
              <a:defRPr sz="1700">
                <a:solidFill>
                  <a:srgbClr val="F5F2EB"/>
                </a:solidFill>
                <a:latin typeface="Aptos"/>
              </a:defRPr>
            </a:pPr>
            <a:r>
              <a:t>• Average GDP by country</a:t>
            </a:r>
          </a:p>
          <a:p>
            <a:pPr>
              <a:spcAft>
                <a:spcPts val="800"/>
              </a:spcAft>
              <a:defRPr sz="1700">
                <a:solidFill>
                  <a:srgbClr val="F5F2EB"/>
                </a:solidFill>
                <a:latin typeface="Aptos"/>
              </a:defRPr>
            </a:pPr>
            <a:r>
              <a:t>• Average GDP growth by country</a:t>
            </a:r>
          </a:p>
          <a:p>
            <a:pPr>
              <a:spcAft>
                <a:spcPts val="800"/>
              </a:spcAft>
              <a:defRPr sz="1700">
                <a:solidFill>
                  <a:srgbClr val="F5F2EB"/>
                </a:solidFill>
                <a:latin typeface="Aptos"/>
              </a:defRPr>
            </a:pPr>
            <a:r>
              <a:t>• Average inflation by country</a:t>
            </a:r>
          </a:p>
          <a:p>
            <a:pPr>
              <a:spcAft>
                <a:spcPts val="800"/>
              </a:spcAft>
              <a:defRPr sz="1700">
                <a:solidFill>
                  <a:srgbClr val="F5F2EB"/>
                </a:solidFill>
                <a:latin typeface="Aptos"/>
              </a:defRPr>
            </a:pPr>
            <a:r>
              <a:t>• Average unemployment by country</a:t>
            </a:r>
          </a:p>
          <a:p>
            <a:pPr>
              <a:spcAft>
                <a:spcPts val="800"/>
              </a:spcAft>
              <a:defRPr sz="1700">
                <a:solidFill>
                  <a:srgbClr val="F5F2EB"/>
                </a:solidFill>
                <a:latin typeface="Aptos"/>
              </a:defRPr>
            </a:pPr>
            <a:r>
              <a:t>• Average current account balance by country</a:t>
            </a:r>
          </a:p>
        </p:txBody>
      </p:sp>
      <p:graphicFrame>
        <p:nvGraphicFramePr>
          <p:cNvPr id="26" name="Chart 25"/>
          <p:cNvGraphicFramePr>
            <a:graphicFrameLocks noGrp="1"/>
          </p:cNvGraphicFramePr>
          <p:nvPr/>
        </p:nvGraphicFramePr>
        <p:xfrm>
          <a:off x="5715000" y="2971800"/>
          <a:ext cx="5669280" cy="2880360"/>
        </p:xfrm>
        <a:graphic>
          <a:graphicData uri="http://schemas.openxmlformats.org/drawingml/2006/chart">
            <c:chart xmlns:c="http://schemas.openxmlformats.org/drawingml/2006/chart" r:id="rId2"/>
          </a:graphicData>
        </a:graphic>
      </p:graphicFrame>
      <p:sp>
        <p:nvSpPr>
          <p:cNvPr id="27" name="TextBox 26"/>
          <p:cNvSpPr txBox="1"/>
          <p:nvPr/>
        </p:nvSpPr>
        <p:spPr>
          <a:xfrm>
            <a:off x="5760720" y="5989320"/>
            <a:ext cx="5486400" cy="320040"/>
          </a:xfrm>
          <a:prstGeom prst="rect">
            <a:avLst/>
          </a:prstGeom>
          <a:noFill/>
        </p:spPr>
        <p:txBody>
          <a:bodyPr wrap="square" anchor="t">
            <a:spAutoFit/>
          </a:bodyPr>
          <a:lstStyle/>
          <a:p>
            <a:pPr algn="l"/>
            <a:r>
              <a:rPr sz="1100" b="0">
                <a:solidFill>
                  <a:srgbClr val="AFAFAF"/>
                </a:solidFill>
                <a:latin typeface="Aptos"/>
              </a:rPr>
              <a:t>Python helped identify the rankings later presented in the Power BI dashboard.</a:t>
            </a:r>
          </a:p>
        </p:txBody>
      </p:sp>
      <p:sp>
        <p:nvSpPr>
          <p:cNvPr id="28" name="TextBox 27"/>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POWER BI DASHBOARD</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Interactive dashboard for country-level comparison</a:t>
            </a:r>
          </a:p>
        </p:txBody>
      </p:sp>
      <p:sp>
        <p:nvSpPr>
          <p:cNvPr id="5" name="Rounded Rectangle 4"/>
          <p:cNvSpPr/>
          <p:nvPr/>
        </p:nvSpPr>
        <p:spPr>
          <a:xfrm>
            <a:off x="594360" y="1417320"/>
            <a:ext cx="1828800" cy="96012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581912"/>
            <a:ext cx="1499616" cy="438912"/>
          </a:xfrm>
          <a:prstGeom prst="rect">
            <a:avLst/>
          </a:prstGeom>
          <a:noFill/>
        </p:spPr>
        <p:txBody>
          <a:bodyPr wrap="square" anchor="t">
            <a:spAutoFit/>
          </a:bodyPr>
          <a:lstStyle/>
          <a:p>
            <a:pPr algn="l"/>
            <a:r>
              <a:rPr sz="2500" b="1">
                <a:solidFill>
                  <a:srgbClr val="F5F2EB"/>
                </a:solidFill>
                <a:latin typeface="Aptos"/>
              </a:rPr>
              <a:t>217</a:t>
            </a:r>
          </a:p>
        </p:txBody>
      </p:sp>
      <p:sp>
        <p:nvSpPr>
          <p:cNvPr id="7" name="TextBox 6"/>
          <p:cNvSpPr txBox="1"/>
          <p:nvPr/>
        </p:nvSpPr>
        <p:spPr>
          <a:xfrm>
            <a:off x="758952" y="2103120"/>
            <a:ext cx="1499616" cy="274320"/>
          </a:xfrm>
          <a:prstGeom prst="rect">
            <a:avLst/>
          </a:prstGeom>
          <a:noFill/>
        </p:spPr>
        <p:txBody>
          <a:bodyPr wrap="square" anchor="t">
            <a:spAutoFit/>
          </a:bodyPr>
          <a:lstStyle/>
          <a:p>
            <a:pPr algn="l"/>
            <a:r>
              <a:rPr sz="1000" b="0">
                <a:solidFill>
                  <a:srgbClr val="AFAFAF"/>
                </a:solidFill>
                <a:latin typeface="Aptos"/>
              </a:rPr>
              <a:t>Total Countries</a:t>
            </a:r>
          </a:p>
        </p:txBody>
      </p:sp>
      <p:sp>
        <p:nvSpPr>
          <p:cNvPr id="8" name="Rounded Rectangle 7"/>
          <p:cNvSpPr/>
          <p:nvPr/>
        </p:nvSpPr>
        <p:spPr>
          <a:xfrm>
            <a:off x="2606040" y="1417320"/>
            <a:ext cx="1828800" cy="960120"/>
          </a:xfrm>
          <a:prstGeom prst="roundRect">
            <a:avLst/>
          </a:prstGeom>
          <a:solidFill>
            <a:srgbClr val="232323"/>
          </a:solidFill>
          <a:ln>
            <a:solidFill>
              <a:srgbClr val="41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0632" y="1581912"/>
            <a:ext cx="1499616" cy="438912"/>
          </a:xfrm>
          <a:prstGeom prst="rect">
            <a:avLst/>
          </a:prstGeom>
          <a:noFill/>
        </p:spPr>
        <p:txBody>
          <a:bodyPr wrap="square" anchor="t">
            <a:spAutoFit/>
          </a:bodyPr>
          <a:lstStyle/>
          <a:p>
            <a:pPr algn="l"/>
            <a:r>
              <a:rPr sz="2500" b="1">
                <a:solidFill>
                  <a:srgbClr val="F5F2EB"/>
                </a:solidFill>
                <a:latin typeface="Aptos"/>
              </a:rPr>
              <a:t>14</a:t>
            </a:r>
          </a:p>
        </p:txBody>
      </p:sp>
      <p:sp>
        <p:nvSpPr>
          <p:cNvPr id="10" name="TextBox 9"/>
          <p:cNvSpPr txBox="1"/>
          <p:nvPr/>
        </p:nvSpPr>
        <p:spPr>
          <a:xfrm>
            <a:off x="2770632" y="2103120"/>
            <a:ext cx="1499616" cy="274320"/>
          </a:xfrm>
          <a:prstGeom prst="rect">
            <a:avLst/>
          </a:prstGeom>
          <a:noFill/>
        </p:spPr>
        <p:txBody>
          <a:bodyPr wrap="square" anchor="t">
            <a:spAutoFit/>
          </a:bodyPr>
          <a:lstStyle/>
          <a:p>
            <a:pPr algn="l"/>
            <a:r>
              <a:rPr sz="1000" b="0">
                <a:solidFill>
                  <a:srgbClr val="AFAFAF"/>
                </a:solidFill>
                <a:latin typeface="Aptos"/>
              </a:rPr>
              <a:t>Years Covered</a:t>
            </a:r>
          </a:p>
        </p:txBody>
      </p:sp>
      <p:graphicFrame>
        <p:nvGraphicFramePr>
          <p:cNvPr id="11" name="Chart 10"/>
          <p:cNvGraphicFramePr>
            <a:graphicFrameLocks noGrp="1"/>
          </p:cNvGraphicFramePr>
          <p:nvPr/>
        </p:nvGraphicFramePr>
        <p:xfrm>
          <a:off x="594360" y="2606040"/>
          <a:ext cx="5394960" cy="1600200"/>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172200" y="2606040"/>
          <a:ext cx="5394960" cy="1600200"/>
        </p:xfrm>
        <a:graphic>
          <a:graphicData uri="http://schemas.openxmlformats.org/drawingml/2006/chart">
            <c:chart xmlns:c="http://schemas.openxmlformats.org/drawingml/2006/chart" r:id="rId3"/>
          </a:graphicData>
        </a:graphic>
      </p:graphicFrame>
      <p:graphicFrame>
        <p:nvGraphicFramePr>
          <p:cNvPr id="13" name="Chart 12"/>
          <p:cNvGraphicFramePr>
            <a:graphicFrameLocks noGrp="1"/>
          </p:cNvGraphicFramePr>
          <p:nvPr/>
        </p:nvGraphicFramePr>
        <p:xfrm>
          <a:off x="594360" y="4434840"/>
          <a:ext cx="5394960" cy="1600200"/>
        </p:xfrm>
        <a:graphic>
          <a:graphicData uri="http://schemas.openxmlformats.org/drawingml/2006/chart">
            <c:chart xmlns:c="http://schemas.openxmlformats.org/drawingml/2006/chart" r:id="rId4"/>
          </a:graphicData>
        </a:graphic>
      </p:graphicFrame>
      <p:graphicFrame>
        <p:nvGraphicFramePr>
          <p:cNvPr id="14" name="Chart 13"/>
          <p:cNvGraphicFramePr>
            <a:graphicFrameLocks noGrp="1"/>
          </p:cNvGraphicFramePr>
          <p:nvPr/>
        </p:nvGraphicFramePr>
        <p:xfrm>
          <a:off x="6172200" y="4434840"/>
          <a:ext cx="5394960" cy="1600200"/>
        </p:xfrm>
        <a:graphic>
          <a:graphicData uri="http://schemas.openxmlformats.org/drawingml/2006/chart">
            <c:chart xmlns:c="http://schemas.openxmlformats.org/drawingml/2006/chart" r:id="rId5"/>
          </a:graphicData>
        </a:graphic>
      </p:graphicFrame>
      <p:sp>
        <p:nvSpPr>
          <p:cNvPr id="15" name="TextBox 14"/>
          <p:cNvSpPr txBox="1"/>
          <p:nvPr/>
        </p:nvSpPr>
        <p:spPr>
          <a:xfrm>
            <a:off x="640080" y="6309360"/>
            <a:ext cx="10789920" cy="274320"/>
          </a:xfrm>
          <a:prstGeom prst="rect">
            <a:avLst/>
          </a:prstGeom>
          <a:noFill/>
        </p:spPr>
        <p:txBody>
          <a:bodyPr wrap="square" anchor="t">
            <a:spAutoFit/>
          </a:bodyPr>
          <a:lstStyle/>
          <a:p>
            <a:pPr algn="l"/>
            <a:r>
              <a:rPr sz="1050" b="0">
                <a:solidFill>
                  <a:srgbClr val="AFAFAF"/>
                </a:solidFill>
                <a:latin typeface="Aptos"/>
              </a:rPr>
              <a:t>Dashboard features: KPI cards • Top-10 charts • Country slicer • Overall key insights</a:t>
            </a:r>
          </a:p>
        </p:txBody>
      </p:sp>
      <p:sp>
        <p:nvSpPr>
          <p:cNvPr id="16" name="TextBox 15"/>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KEY FINDINGS</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Overall results for 2010–2023</a:t>
            </a:r>
          </a:p>
        </p:txBody>
      </p:sp>
      <p:sp>
        <p:nvSpPr>
          <p:cNvPr id="5" name="TextBox 4"/>
          <p:cNvSpPr txBox="1"/>
          <p:nvPr/>
        </p:nvSpPr>
        <p:spPr>
          <a:xfrm>
            <a:off x="658368" y="1508760"/>
            <a:ext cx="502920" cy="320040"/>
          </a:xfrm>
          <a:prstGeom prst="rect">
            <a:avLst/>
          </a:prstGeom>
          <a:noFill/>
        </p:spPr>
        <p:txBody>
          <a:bodyPr wrap="square" anchor="t">
            <a:spAutoFit/>
          </a:bodyPr>
          <a:lstStyle/>
          <a:p>
            <a:pPr algn="l"/>
            <a:r>
              <a:rPr sz="1200" b="1">
                <a:solidFill>
                  <a:srgbClr val="F05A23"/>
                </a:solidFill>
                <a:latin typeface="Aptos"/>
              </a:rPr>
              <a:t>01</a:t>
            </a:r>
          </a:p>
        </p:txBody>
      </p:sp>
      <p:sp>
        <p:nvSpPr>
          <p:cNvPr id="6" name="TextBox 5"/>
          <p:cNvSpPr txBox="1"/>
          <p:nvPr/>
        </p:nvSpPr>
        <p:spPr>
          <a:xfrm>
            <a:off x="1325880" y="1417320"/>
            <a:ext cx="3017520" cy="411480"/>
          </a:xfrm>
          <a:prstGeom prst="rect">
            <a:avLst/>
          </a:prstGeom>
          <a:noFill/>
        </p:spPr>
        <p:txBody>
          <a:bodyPr wrap="square" anchor="t">
            <a:spAutoFit/>
          </a:bodyPr>
          <a:lstStyle/>
          <a:p>
            <a:pPr algn="l"/>
            <a:r>
              <a:rPr sz="2100" b="1">
                <a:solidFill>
                  <a:srgbClr val="F5F2EB"/>
                </a:solidFill>
                <a:latin typeface="Aptos"/>
              </a:rPr>
              <a:t>United States</a:t>
            </a:r>
          </a:p>
        </p:txBody>
      </p:sp>
      <p:sp>
        <p:nvSpPr>
          <p:cNvPr id="7" name="TextBox 6"/>
          <p:cNvSpPr txBox="1"/>
          <p:nvPr/>
        </p:nvSpPr>
        <p:spPr>
          <a:xfrm>
            <a:off x="4389120" y="1453896"/>
            <a:ext cx="6309360" cy="365760"/>
          </a:xfrm>
          <a:prstGeom prst="rect">
            <a:avLst/>
          </a:prstGeom>
          <a:noFill/>
        </p:spPr>
        <p:txBody>
          <a:bodyPr wrap="square" anchor="t">
            <a:spAutoFit/>
          </a:bodyPr>
          <a:lstStyle/>
          <a:p>
            <a:pPr algn="l"/>
            <a:r>
              <a:rPr sz="1600" b="0">
                <a:solidFill>
                  <a:srgbClr val="DCDCDC"/>
                </a:solidFill>
                <a:latin typeface="Aptos"/>
              </a:rPr>
              <a:t>Highest average GDP</a:t>
            </a:r>
          </a:p>
        </p:txBody>
      </p:sp>
      <p:sp>
        <p:nvSpPr>
          <p:cNvPr id="8" name="Rectangle 7"/>
          <p:cNvSpPr/>
          <p:nvPr/>
        </p:nvSpPr>
        <p:spPr>
          <a:xfrm>
            <a:off x="1325880" y="2020824"/>
            <a:ext cx="9326880" cy="10972"/>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441448"/>
            <a:ext cx="502920" cy="320040"/>
          </a:xfrm>
          <a:prstGeom prst="rect">
            <a:avLst/>
          </a:prstGeom>
          <a:noFill/>
        </p:spPr>
        <p:txBody>
          <a:bodyPr wrap="square" anchor="t">
            <a:spAutoFit/>
          </a:bodyPr>
          <a:lstStyle/>
          <a:p>
            <a:pPr algn="l"/>
            <a:r>
              <a:rPr sz="1200" b="1">
                <a:solidFill>
                  <a:srgbClr val="F05A23"/>
                </a:solidFill>
                <a:latin typeface="Aptos"/>
              </a:rPr>
              <a:t>02</a:t>
            </a:r>
          </a:p>
        </p:txBody>
      </p:sp>
      <p:sp>
        <p:nvSpPr>
          <p:cNvPr id="10" name="TextBox 9"/>
          <p:cNvSpPr txBox="1"/>
          <p:nvPr/>
        </p:nvSpPr>
        <p:spPr>
          <a:xfrm>
            <a:off x="1325880" y="2350008"/>
            <a:ext cx="3017520" cy="411480"/>
          </a:xfrm>
          <a:prstGeom prst="rect">
            <a:avLst/>
          </a:prstGeom>
          <a:noFill/>
        </p:spPr>
        <p:txBody>
          <a:bodyPr wrap="square" anchor="t">
            <a:spAutoFit/>
          </a:bodyPr>
          <a:lstStyle/>
          <a:p>
            <a:pPr algn="l"/>
            <a:r>
              <a:rPr sz="2100" b="1">
                <a:solidFill>
                  <a:srgbClr val="F5F2EB"/>
                </a:solidFill>
                <a:latin typeface="Aptos"/>
              </a:rPr>
              <a:t>Guyana</a:t>
            </a:r>
          </a:p>
        </p:txBody>
      </p:sp>
      <p:sp>
        <p:nvSpPr>
          <p:cNvPr id="11" name="TextBox 10"/>
          <p:cNvSpPr txBox="1"/>
          <p:nvPr/>
        </p:nvSpPr>
        <p:spPr>
          <a:xfrm>
            <a:off x="4389120" y="2386584"/>
            <a:ext cx="6309360" cy="365760"/>
          </a:xfrm>
          <a:prstGeom prst="rect">
            <a:avLst/>
          </a:prstGeom>
          <a:noFill/>
        </p:spPr>
        <p:txBody>
          <a:bodyPr wrap="square" anchor="t">
            <a:spAutoFit/>
          </a:bodyPr>
          <a:lstStyle/>
          <a:p>
            <a:pPr algn="l"/>
            <a:r>
              <a:rPr sz="1600" b="0">
                <a:solidFill>
                  <a:srgbClr val="DCDCDC"/>
                </a:solidFill>
                <a:latin typeface="Aptos"/>
              </a:rPr>
              <a:t>Highest average GDP growth</a:t>
            </a:r>
          </a:p>
        </p:txBody>
      </p:sp>
      <p:sp>
        <p:nvSpPr>
          <p:cNvPr id="12" name="Rectangle 11"/>
          <p:cNvSpPr/>
          <p:nvPr/>
        </p:nvSpPr>
        <p:spPr>
          <a:xfrm>
            <a:off x="1325880" y="2953512"/>
            <a:ext cx="9326880" cy="10972"/>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374136"/>
            <a:ext cx="502920" cy="320040"/>
          </a:xfrm>
          <a:prstGeom prst="rect">
            <a:avLst/>
          </a:prstGeom>
          <a:noFill/>
        </p:spPr>
        <p:txBody>
          <a:bodyPr wrap="square" anchor="t">
            <a:spAutoFit/>
          </a:bodyPr>
          <a:lstStyle/>
          <a:p>
            <a:pPr algn="l"/>
            <a:r>
              <a:rPr sz="1200" b="1">
                <a:solidFill>
                  <a:srgbClr val="F05A23"/>
                </a:solidFill>
                <a:latin typeface="Aptos"/>
              </a:rPr>
              <a:t>03</a:t>
            </a:r>
          </a:p>
        </p:txBody>
      </p:sp>
      <p:sp>
        <p:nvSpPr>
          <p:cNvPr id="14" name="TextBox 13"/>
          <p:cNvSpPr txBox="1"/>
          <p:nvPr/>
        </p:nvSpPr>
        <p:spPr>
          <a:xfrm>
            <a:off x="1325880" y="3282696"/>
            <a:ext cx="3017520" cy="411480"/>
          </a:xfrm>
          <a:prstGeom prst="rect">
            <a:avLst/>
          </a:prstGeom>
          <a:noFill/>
        </p:spPr>
        <p:txBody>
          <a:bodyPr wrap="square" anchor="t">
            <a:spAutoFit/>
          </a:bodyPr>
          <a:lstStyle/>
          <a:p>
            <a:pPr algn="l"/>
            <a:r>
              <a:rPr sz="2100" b="1">
                <a:solidFill>
                  <a:srgbClr val="F5F2EB"/>
                </a:solidFill>
                <a:latin typeface="Aptos"/>
              </a:rPr>
              <a:t>Zimbabwe</a:t>
            </a:r>
          </a:p>
        </p:txBody>
      </p:sp>
      <p:sp>
        <p:nvSpPr>
          <p:cNvPr id="15" name="TextBox 14"/>
          <p:cNvSpPr txBox="1"/>
          <p:nvPr/>
        </p:nvSpPr>
        <p:spPr>
          <a:xfrm>
            <a:off x="4389120" y="3319272"/>
            <a:ext cx="6309360" cy="365760"/>
          </a:xfrm>
          <a:prstGeom prst="rect">
            <a:avLst/>
          </a:prstGeom>
          <a:noFill/>
        </p:spPr>
        <p:txBody>
          <a:bodyPr wrap="square" anchor="t">
            <a:spAutoFit/>
          </a:bodyPr>
          <a:lstStyle/>
          <a:p>
            <a:pPr algn="l"/>
            <a:r>
              <a:rPr sz="1600" b="0">
                <a:solidFill>
                  <a:srgbClr val="DCDCDC"/>
                </a:solidFill>
                <a:latin typeface="Aptos"/>
              </a:rPr>
              <a:t>Highest average inflation</a:t>
            </a:r>
          </a:p>
        </p:txBody>
      </p:sp>
      <p:sp>
        <p:nvSpPr>
          <p:cNvPr id="16" name="Rectangle 15"/>
          <p:cNvSpPr/>
          <p:nvPr/>
        </p:nvSpPr>
        <p:spPr>
          <a:xfrm>
            <a:off x="1325880" y="3886200"/>
            <a:ext cx="9326880" cy="10972"/>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306824"/>
            <a:ext cx="502920" cy="320040"/>
          </a:xfrm>
          <a:prstGeom prst="rect">
            <a:avLst/>
          </a:prstGeom>
          <a:noFill/>
        </p:spPr>
        <p:txBody>
          <a:bodyPr wrap="square" anchor="t">
            <a:spAutoFit/>
          </a:bodyPr>
          <a:lstStyle/>
          <a:p>
            <a:pPr algn="l"/>
            <a:r>
              <a:rPr sz="1200" b="1">
                <a:solidFill>
                  <a:srgbClr val="F05A23"/>
                </a:solidFill>
                <a:latin typeface="Aptos"/>
              </a:rPr>
              <a:t>04</a:t>
            </a:r>
          </a:p>
        </p:txBody>
      </p:sp>
      <p:sp>
        <p:nvSpPr>
          <p:cNvPr id="18" name="TextBox 17"/>
          <p:cNvSpPr txBox="1"/>
          <p:nvPr/>
        </p:nvSpPr>
        <p:spPr>
          <a:xfrm>
            <a:off x="1325880" y="4215384"/>
            <a:ext cx="3017520" cy="411480"/>
          </a:xfrm>
          <a:prstGeom prst="rect">
            <a:avLst/>
          </a:prstGeom>
          <a:noFill/>
        </p:spPr>
        <p:txBody>
          <a:bodyPr wrap="square" anchor="t">
            <a:spAutoFit/>
          </a:bodyPr>
          <a:lstStyle/>
          <a:p>
            <a:pPr algn="l"/>
            <a:r>
              <a:rPr sz="2100" b="1">
                <a:solidFill>
                  <a:srgbClr val="F5F2EB"/>
                </a:solidFill>
                <a:latin typeface="Aptos"/>
              </a:rPr>
              <a:t>Eswatini</a:t>
            </a:r>
          </a:p>
        </p:txBody>
      </p:sp>
      <p:sp>
        <p:nvSpPr>
          <p:cNvPr id="19" name="TextBox 18"/>
          <p:cNvSpPr txBox="1"/>
          <p:nvPr/>
        </p:nvSpPr>
        <p:spPr>
          <a:xfrm>
            <a:off x="4389120" y="4251960"/>
            <a:ext cx="6309360" cy="365760"/>
          </a:xfrm>
          <a:prstGeom prst="rect">
            <a:avLst/>
          </a:prstGeom>
          <a:noFill/>
        </p:spPr>
        <p:txBody>
          <a:bodyPr wrap="square" anchor="t">
            <a:spAutoFit/>
          </a:bodyPr>
          <a:lstStyle/>
          <a:p>
            <a:pPr algn="l"/>
            <a:r>
              <a:rPr sz="1600" b="0">
                <a:solidFill>
                  <a:srgbClr val="DCDCDC"/>
                </a:solidFill>
                <a:latin typeface="Aptos"/>
              </a:rPr>
              <a:t>Highest average unemployment</a:t>
            </a:r>
          </a:p>
        </p:txBody>
      </p:sp>
      <p:sp>
        <p:nvSpPr>
          <p:cNvPr id="20" name="Rectangle 19"/>
          <p:cNvSpPr/>
          <p:nvPr/>
        </p:nvSpPr>
        <p:spPr>
          <a:xfrm>
            <a:off x="1325880" y="4818888"/>
            <a:ext cx="9326880" cy="10972"/>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239512"/>
            <a:ext cx="502920" cy="320040"/>
          </a:xfrm>
          <a:prstGeom prst="rect">
            <a:avLst/>
          </a:prstGeom>
          <a:noFill/>
        </p:spPr>
        <p:txBody>
          <a:bodyPr wrap="square" anchor="t">
            <a:spAutoFit/>
          </a:bodyPr>
          <a:lstStyle/>
          <a:p>
            <a:pPr algn="l"/>
            <a:r>
              <a:rPr sz="1200" b="1">
                <a:solidFill>
                  <a:srgbClr val="F05A23"/>
                </a:solidFill>
                <a:latin typeface="Aptos"/>
              </a:rPr>
              <a:t>05</a:t>
            </a:r>
          </a:p>
        </p:txBody>
      </p:sp>
      <p:sp>
        <p:nvSpPr>
          <p:cNvPr id="22" name="TextBox 21"/>
          <p:cNvSpPr txBox="1"/>
          <p:nvPr/>
        </p:nvSpPr>
        <p:spPr>
          <a:xfrm>
            <a:off x="1325880" y="5148072"/>
            <a:ext cx="3017520" cy="411480"/>
          </a:xfrm>
          <a:prstGeom prst="rect">
            <a:avLst/>
          </a:prstGeom>
          <a:noFill/>
        </p:spPr>
        <p:txBody>
          <a:bodyPr wrap="square" anchor="t">
            <a:spAutoFit/>
          </a:bodyPr>
          <a:lstStyle/>
          <a:p>
            <a:pPr algn="l"/>
            <a:r>
              <a:rPr sz="2100" b="1">
                <a:solidFill>
                  <a:srgbClr val="F5F2EB"/>
                </a:solidFill>
                <a:latin typeface="Aptos"/>
              </a:rPr>
              <a:t>Timor-Leste</a:t>
            </a:r>
          </a:p>
        </p:txBody>
      </p:sp>
      <p:sp>
        <p:nvSpPr>
          <p:cNvPr id="23" name="TextBox 22"/>
          <p:cNvSpPr txBox="1"/>
          <p:nvPr/>
        </p:nvSpPr>
        <p:spPr>
          <a:xfrm>
            <a:off x="4389120" y="5184648"/>
            <a:ext cx="6309360" cy="365760"/>
          </a:xfrm>
          <a:prstGeom prst="rect">
            <a:avLst/>
          </a:prstGeom>
          <a:noFill/>
        </p:spPr>
        <p:txBody>
          <a:bodyPr wrap="square" anchor="t">
            <a:spAutoFit/>
          </a:bodyPr>
          <a:lstStyle/>
          <a:p>
            <a:pPr algn="l"/>
            <a:r>
              <a:rPr sz="1600" b="0">
                <a:solidFill>
                  <a:srgbClr val="DCDCDC"/>
                </a:solidFill>
                <a:latin typeface="Aptos"/>
              </a:rPr>
              <a:t>Highest average current account balance</a:t>
            </a:r>
          </a:p>
        </p:txBody>
      </p:sp>
      <p:sp>
        <p:nvSpPr>
          <p:cNvPr id="24" name="Rectangle 23"/>
          <p:cNvSpPr/>
          <p:nvPr/>
        </p:nvSpPr>
        <p:spPr>
          <a:xfrm>
            <a:off x="1325880" y="5751576"/>
            <a:ext cx="9326880" cy="10972"/>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144768"/>
            <a:ext cx="8961120" cy="274320"/>
          </a:xfrm>
          <a:prstGeom prst="rect">
            <a:avLst/>
          </a:prstGeom>
          <a:noFill/>
        </p:spPr>
        <p:txBody>
          <a:bodyPr wrap="square" anchor="t">
            <a:spAutoFit/>
          </a:bodyPr>
          <a:lstStyle/>
          <a:p>
            <a:pPr algn="l"/>
            <a:r>
              <a:rPr sz="1050" b="0">
                <a:solidFill>
                  <a:srgbClr val="AFAFAF"/>
                </a:solidFill>
                <a:latin typeface="Aptos"/>
              </a:rPr>
              <a:t>These are average values across the selected period, not single-year values.</a:t>
            </a:r>
          </a:p>
        </p:txBody>
      </p:sp>
      <p:sp>
        <p:nvSpPr>
          <p:cNvPr id="26" name="TextBox 25"/>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594360" y="384048"/>
            <a:ext cx="10972800" cy="502920"/>
          </a:xfrm>
          <a:prstGeom prst="rect">
            <a:avLst/>
          </a:prstGeom>
          <a:noFill/>
        </p:spPr>
        <p:txBody>
          <a:bodyPr wrap="square" anchor="t">
            <a:spAutoFit/>
          </a:bodyPr>
          <a:lstStyle/>
          <a:p>
            <a:pPr algn="l"/>
            <a:r>
              <a:rPr sz="2500" b="1">
                <a:solidFill>
                  <a:srgbClr val="F5F2EB"/>
                </a:solidFill>
                <a:latin typeface="Aptos"/>
              </a:rPr>
              <a:t>CONCLUSION &amp; RECOMMENDATIONS</a:t>
            </a:r>
          </a:p>
        </p:txBody>
      </p:sp>
      <p:sp>
        <p:nvSpPr>
          <p:cNvPr id="3" name="Rectangle 2"/>
          <p:cNvSpPr/>
          <p:nvPr/>
        </p:nvSpPr>
        <p:spPr>
          <a:xfrm>
            <a:off x="594360" y="960120"/>
            <a:ext cx="960120" cy="41148"/>
          </a:xfrm>
          <a:prstGeom prst="rect">
            <a:avLst/>
          </a:prstGeom>
          <a:solidFill>
            <a:srgbClr val="F05A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60704"/>
            <a:ext cx="10789920" cy="347472"/>
          </a:xfrm>
          <a:prstGeom prst="rect">
            <a:avLst/>
          </a:prstGeom>
          <a:noFill/>
        </p:spPr>
        <p:txBody>
          <a:bodyPr wrap="square" anchor="t">
            <a:spAutoFit/>
          </a:bodyPr>
          <a:lstStyle/>
          <a:p>
            <a:pPr algn="l"/>
            <a:r>
              <a:rPr sz="1200" b="0">
                <a:solidFill>
                  <a:srgbClr val="AFAFAF"/>
                </a:solidFill>
                <a:latin typeface="Aptos"/>
              </a:rPr>
              <a:t>What the analysis shows</a:t>
            </a:r>
          </a:p>
        </p:txBody>
      </p:sp>
      <p:sp>
        <p:nvSpPr>
          <p:cNvPr id="5" name="TextBox 4"/>
          <p:cNvSpPr txBox="1"/>
          <p:nvPr/>
        </p:nvSpPr>
        <p:spPr>
          <a:xfrm>
            <a:off x="640080" y="1417320"/>
            <a:ext cx="1463040" cy="320040"/>
          </a:xfrm>
          <a:prstGeom prst="rect">
            <a:avLst/>
          </a:prstGeom>
          <a:noFill/>
        </p:spPr>
        <p:txBody>
          <a:bodyPr wrap="square" anchor="t">
            <a:spAutoFit/>
          </a:bodyPr>
          <a:lstStyle/>
          <a:p>
            <a:pPr algn="l"/>
            <a:r>
              <a:rPr sz="1300" b="1">
                <a:solidFill>
                  <a:srgbClr val="F05A23"/>
                </a:solidFill>
                <a:latin typeface="Aptos"/>
              </a:rPr>
              <a:t>CONCLUSION</a:t>
            </a:r>
          </a:p>
        </p:txBody>
      </p:sp>
      <p:sp>
        <p:nvSpPr>
          <p:cNvPr id="6" name="TextBox 5"/>
          <p:cNvSpPr txBox="1"/>
          <p:nvPr/>
        </p:nvSpPr>
        <p:spPr>
          <a:xfrm>
            <a:off x="658368" y="1828800"/>
            <a:ext cx="5166360" cy="1828800"/>
          </a:xfrm>
          <a:prstGeom prst="rect">
            <a:avLst/>
          </a:prstGeom>
          <a:noFill/>
        </p:spPr>
        <p:txBody>
          <a:bodyPr wrap="square" anchor="t">
            <a:spAutoFit/>
          </a:bodyPr>
          <a:lstStyle/>
          <a:p>
            <a:pPr algn="l"/>
            <a:r>
              <a:rPr sz="1600" b="0">
                <a:solidFill>
                  <a:srgbClr val="F5F2EB"/>
                </a:solidFill>
                <a:latin typeface="Aptos"/>
              </a:rPr>
              <a:t>The analysis shows that countries have very different economic profiles. GDP size, growth, inflation, unemployment and the current account measure different dimensions of economic performance. Power BI makes these differences easier to compare interactively.</a:t>
            </a:r>
          </a:p>
        </p:txBody>
      </p:sp>
      <p:sp>
        <p:nvSpPr>
          <p:cNvPr id="7" name="TextBox 6"/>
          <p:cNvSpPr txBox="1"/>
          <p:nvPr/>
        </p:nvSpPr>
        <p:spPr>
          <a:xfrm>
            <a:off x="6126480" y="1417320"/>
            <a:ext cx="2103120" cy="320040"/>
          </a:xfrm>
          <a:prstGeom prst="rect">
            <a:avLst/>
          </a:prstGeom>
          <a:noFill/>
        </p:spPr>
        <p:txBody>
          <a:bodyPr wrap="square" anchor="t">
            <a:spAutoFit/>
          </a:bodyPr>
          <a:lstStyle/>
          <a:p>
            <a:pPr algn="l"/>
            <a:r>
              <a:rPr sz="1300" b="1">
                <a:solidFill>
                  <a:srgbClr val="F05A23"/>
                </a:solidFill>
                <a:latin typeface="Aptos"/>
              </a:rPr>
              <a:t>RECOMMENDATIONS</a:t>
            </a:r>
          </a:p>
        </p:txBody>
      </p:sp>
      <p:sp>
        <p:nvSpPr>
          <p:cNvPr id="8" name="TextBox 7"/>
          <p:cNvSpPr txBox="1"/>
          <p:nvPr/>
        </p:nvSpPr>
        <p:spPr>
          <a:xfrm>
            <a:off x="6172200" y="1828800"/>
            <a:ext cx="5212080" cy="3566160"/>
          </a:xfrm>
          <a:prstGeom prst="rect">
            <a:avLst/>
          </a:prstGeom>
          <a:noFill/>
        </p:spPr>
        <p:txBody>
          <a:bodyPr wrap="square">
            <a:spAutoFit/>
          </a:bodyPr>
          <a:lstStyle/>
          <a:p>
            <a:pPr>
              <a:spcAft>
                <a:spcPts val="800"/>
              </a:spcAft>
              <a:defRPr sz="1550">
                <a:solidFill>
                  <a:srgbClr val="F5F2EB"/>
                </a:solidFill>
                <a:latin typeface="Aptos"/>
              </a:defRPr>
            </a:pPr>
            <a:r>
              <a:t>• Monitor inflation and unemployment as indicators of economic pressure.</a:t>
            </a:r>
          </a:p>
          <a:p>
            <a:pPr>
              <a:spcAft>
                <a:spcPts val="800"/>
              </a:spcAft>
              <a:defRPr sz="1550">
                <a:solidFill>
                  <a:srgbClr val="F5F2EB"/>
                </a:solidFill>
                <a:latin typeface="Aptos"/>
              </a:defRPr>
            </a:pPr>
            <a:r>
              <a:t>• For high-growth economies, examine whether growth is sustainable and diversified.</a:t>
            </a:r>
          </a:p>
          <a:p>
            <a:pPr>
              <a:spcAft>
                <a:spcPts val="800"/>
              </a:spcAft>
              <a:defRPr sz="1550">
                <a:solidFill>
                  <a:srgbClr val="F5F2EB"/>
                </a:solidFill>
                <a:latin typeface="Aptos"/>
              </a:defRPr>
            </a:pPr>
            <a:r>
              <a:t>• For countries with large current-account surpluses, consider export concentration and domestic investment.</a:t>
            </a:r>
          </a:p>
          <a:p>
            <a:pPr>
              <a:spcAft>
                <a:spcPts val="800"/>
              </a:spcAft>
              <a:defRPr sz="1550">
                <a:solidFill>
                  <a:srgbClr val="F5F2EB"/>
                </a:solidFill>
                <a:latin typeface="Aptos"/>
              </a:defRPr>
            </a:pPr>
            <a:r>
              <a:t>• Use GDP together with GDP per capita and labor-market indicators for a broader view of economic wellbeing.</a:t>
            </a:r>
          </a:p>
          <a:p>
            <a:pPr>
              <a:spcAft>
                <a:spcPts val="800"/>
              </a:spcAft>
              <a:defRPr sz="1550">
                <a:solidFill>
                  <a:srgbClr val="F5F2EB"/>
                </a:solidFill>
                <a:latin typeface="Aptos"/>
              </a:defRPr>
            </a:pPr>
            <a:r>
              <a:t>• Update the dashboard when newer complete data becomes available.</a:t>
            </a:r>
          </a:p>
        </p:txBody>
      </p:sp>
      <p:sp>
        <p:nvSpPr>
          <p:cNvPr id="9" name="TextBox 8"/>
          <p:cNvSpPr txBox="1"/>
          <p:nvPr/>
        </p:nvSpPr>
        <p:spPr>
          <a:xfrm>
            <a:off x="658368" y="5806440"/>
            <a:ext cx="1828800" cy="411480"/>
          </a:xfrm>
          <a:prstGeom prst="rect">
            <a:avLst/>
          </a:prstGeom>
          <a:noFill/>
        </p:spPr>
        <p:txBody>
          <a:bodyPr wrap="square" anchor="t">
            <a:spAutoFit/>
          </a:bodyPr>
          <a:lstStyle/>
          <a:p>
            <a:pPr algn="l"/>
            <a:r>
              <a:rPr sz="1800" b="1">
                <a:solidFill>
                  <a:srgbClr val="F05A23"/>
                </a:solidFill>
                <a:latin typeface="Aptos"/>
              </a:rPr>
              <a:t>THANK YOU</a:t>
            </a:r>
          </a:p>
        </p:txBody>
      </p:sp>
      <p:sp>
        <p:nvSpPr>
          <p:cNvPr id="10" name="TextBox 9"/>
          <p:cNvSpPr txBox="1"/>
          <p:nvPr/>
        </p:nvSpPr>
        <p:spPr>
          <a:xfrm>
            <a:off x="2057400" y="5806440"/>
            <a:ext cx="1828800" cy="411480"/>
          </a:xfrm>
          <a:prstGeom prst="rect">
            <a:avLst/>
          </a:prstGeom>
          <a:noFill/>
        </p:spPr>
        <p:txBody>
          <a:bodyPr wrap="square" anchor="t">
            <a:spAutoFit/>
          </a:bodyPr>
          <a:lstStyle/>
          <a:p>
            <a:pPr algn="l"/>
            <a:r>
              <a:rPr sz="1800" b="1">
                <a:solidFill>
                  <a:srgbClr val="F5F2EB"/>
                </a:solidFill>
                <a:latin typeface="Aptos"/>
              </a:rPr>
              <a:t>Questions?</a:t>
            </a:r>
          </a:p>
        </p:txBody>
      </p:sp>
      <p:sp>
        <p:nvSpPr>
          <p:cNvPr id="11" name="TextBox 10"/>
          <p:cNvSpPr txBox="1"/>
          <p:nvPr/>
        </p:nvSpPr>
        <p:spPr>
          <a:xfrm>
            <a:off x="11155680" y="6419088"/>
            <a:ext cx="411480" cy="228600"/>
          </a:xfrm>
          <a:prstGeom prst="rect">
            <a:avLst/>
          </a:prstGeom>
          <a:noFill/>
        </p:spPr>
        <p:txBody>
          <a:bodyPr wrap="square" anchor="t">
            <a:spAutoFit/>
          </a:bodyPr>
          <a:lstStyle/>
          <a:p>
            <a:pPr algn="r"/>
            <a:r>
              <a:rPr sz="900" b="0">
                <a:solidFill>
                  <a:srgbClr val="AFAFAF"/>
                </a:solidFill>
                <a:latin typeface="Aptos"/>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